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626943-B5BA-7618-AD4D-9E94811413EB}" v="178" dt="2026-09-03T16:24:56.0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Tier</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extLst>
              <c:ext xmlns:c16="http://schemas.microsoft.com/office/drawing/2014/chart" uri="{C3380CC4-5D6E-409C-BE32-E72D297353CC}">
                <c16:uniqueId val="{00000001-23B2-49D3-9D49-46425F8C59C7}"/>
              </c:ext>
            </c:extLst>
          </c:dPt>
          <c:dPt>
            <c:idx val="1"/>
            <c:bubble3D val="0"/>
            <c:spPr>
              <a:solidFill>
                <a:srgbClr val="3B6EA5"/>
              </a:solidFill>
              <a:effectLst/>
            </c:spPr>
            <c:extLst>
              <c:ext xmlns:c16="http://schemas.microsoft.com/office/drawing/2014/chart" uri="{C3380CC4-5D6E-409C-BE32-E72D297353CC}">
                <c16:uniqueId val="{00000003-23B2-49D3-9D49-46425F8C59C7}"/>
              </c:ext>
            </c:extLst>
          </c:dPt>
          <c:dPt>
            <c:idx val="2"/>
            <c:bubble3D val="0"/>
            <c:spPr>
              <a:solidFill>
                <a:srgbClr val="8FA9C4"/>
              </a:solidFill>
              <a:effectLst/>
            </c:spPr>
            <c:extLst>
              <c:ext xmlns:c16="http://schemas.microsoft.com/office/drawing/2014/chart" uri="{C3380CC4-5D6E-409C-BE32-E72D297353CC}">
                <c16:uniqueId val="{00000005-23B2-49D3-9D49-46425F8C59C7}"/>
              </c:ext>
            </c:extLst>
          </c:dPt>
          <c:dPt>
            <c:idx val="3"/>
            <c:bubble3D val="0"/>
            <c:spPr>
              <a:solidFill>
                <a:srgbClr val="C97C4C"/>
              </a:solidFill>
              <a:effectLst/>
            </c:spPr>
            <c:extLst>
              <c:ext xmlns:c16="http://schemas.microsoft.com/office/drawing/2014/chart" uri="{C3380CC4-5D6E-409C-BE32-E72D297353CC}">
                <c16:uniqueId val="{00000007-23B2-49D3-9D49-46425F8C59C7}"/>
              </c:ext>
            </c:extLst>
          </c:dPt>
          <c:cat>
            <c:strRef>
              <c:f>Sheet1!$A$2:$A$5</c:f>
              <c:strCache>
                <c:ptCount val="4"/>
                <c:pt idx="0">
                  <c:v>New</c:v>
                </c:pt>
                <c:pt idx="1">
                  <c:v>Growing</c:v>
                </c:pt>
                <c:pt idx="2">
                  <c:v>Loyal</c:v>
                </c:pt>
                <c:pt idx="3">
                  <c:v>VIP</c:v>
                </c:pt>
              </c:strCache>
            </c:strRef>
          </c:cat>
          <c:val>
            <c:numRef>
              <c:f>Sheet1!$B$2:$B$5</c:f>
              <c:numCache>
                <c:formatCode>General</c:formatCode>
                <c:ptCount val="4"/>
                <c:pt idx="0">
                  <c:v>945</c:v>
                </c:pt>
                <c:pt idx="1">
                  <c:v>1020</c:v>
                </c:pt>
                <c:pt idx="2">
                  <c:v>937</c:v>
                </c:pt>
                <c:pt idx="3">
                  <c:v>998</c:v>
                </c:pt>
              </c:numCache>
            </c:numRef>
          </c:val>
          <c:extLst>
            <c:ext xmlns:c16="http://schemas.microsoft.com/office/drawing/2014/chart" uri="{C3380CC4-5D6E-409C-BE32-E72D297353CC}">
              <c16:uniqueId val="{00000008-23B2-49D3-9D49-46425F8C59C7}"/>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1F2933"/>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0B2545"/>
            </a:solidFill>
            <a:effectLst/>
          </c:spPr>
          <c:invertIfNegative val="0"/>
          <c:dLbls>
            <c:numFmt formatCode="#,##0" sourceLinked="0"/>
            <c:spPr>
              <a:noFill/>
              <a:ln>
                <a:noFill/>
              </a:ln>
              <a:effectLst/>
            </c:spPr>
            <c:txPr>
              <a:bodyPr/>
              <a:lstStyle/>
              <a:p>
                <a:pPr>
                  <a:defRPr sz="10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Clothing</c:v>
                </c:pt>
                <c:pt idx="1">
                  <c:v>Accessories</c:v>
                </c:pt>
                <c:pt idx="2">
                  <c:v>Footwear</c:v>
                </c:pt>
                <c:pt idx="3">
                  <c:v>Outerwear</c:v>
                </c:pt>
              </c:strCache>
            </c:strRef>
          </c:cat>
          <c:val>
            <c:numRef>
              <c:f>Sheet1!$B$2:$B$5</c:f>
              <c:numCache>
                <c:formatCode>General</c:formatCode>
                <c:ptCount val="4"/>
                <c:pt idx="0">
                  <c:v>104264</c:v>
                </c:pt>
                <c:pt idx="1">
                  <c:v>74200</c:v>
                </c:pt>
                <c:pt idx="2">
                  <c:v>36093</c:v>
                </c:pt>
                <c:pt idx="3">
                  <c:v>18524</c:v>
                </c:pt>
              </c:numCache>
            </c:numRef>
          </c:val>
          <c:extLst>
            <c:ext xmlns:c16="http://schemas.microsoft.com/office/drawing/2014/chart" uri="{C3380CC4-5D6E-409C-BE32-E72D297353CC}">
              <c16:uniqueId val="{00000000-15AD-4790-A2A8-D8999716E35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noFill/>
              <a:prstDash val="solid"/>
              <a:round/>
            </a:ln>
          </c:spPr>
        </c:majorGridlines>
        <c:numFmt formatCode="#,##0"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($K)</c:v>
                </c:pt>
              </c:strCache>
            </c:strRef>
          </c:tx>
          <c:spPr>
            <a:solidFill>
              <a:srgbClr val="0B2545"/>
            </a:solidFill>
            <a:effectLst/>
          </c:spPr>
          <c:invertIfNegative val="0"/>
          <c:dLbls>
            <c:numFmt formatCode="0.0" sourceLinked="0"/>
            <c:spPr>
              <a:noFill/>
              <a:ln>
                <a:noFill/>
              </a:ln>
              <a:effectLst/>
            </c:spPr>
            <c:txPr>
              <a:bodyPr/>
              <a:lstStyle/>
              <a:p>
                <a:pPr>
                  <a:defRPr sz="10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Blouse</c:v>
                </c:pt>
                <c:pt idx="1">
                  <c:v>Shirt</c:v>
                </c:pt>
                <c:pt idx="2">
                  <c:v>Dress</c:v>
                </c:pt>
                <c:pt idx="3">
                  <c:v>Pants</c:v>
                </c:pt>
                <c:pt idx="4">
                  <c:v>Jewelry</c:v>
                </c:pt>
                <c:pt idx="5">
                  <c:v>Sunglasses</c:v>
                </c:pt>
                <c:pt idx="6">
                  <c:v>Belt</c:v>
                </c:pt>
                <c:pt idx="7">
                  <c:v>Scarf</c:v>
                </c:pt>
                <c:pt idx="8">
                  <c:v>Sweater</c:v>
                </c:pt>
                <c:pt idx="9">
                  <c:v>Shorts</c:v>
                </c:pt>
              </c:strCache>
            </c:strRef>
          </c:cat>
          <c:val>
            <c:numRef>
              <c:f>Sheet1!$B$2:$B$11</c:f>
              <c:numCache>
                <c:formatCode>General</c:formatCode>
                <c:ptCount val="10"/>
                <c:pt idx="0">
                  <c:v>10.4</c:v>
                </c:pt>
                <c:pt idx="1">
                  <c:v>10.3</c:v>
                </c:pt>
                <c:pt idx="2">
                  <c:v>10.3</c:v>
                </c:pt>
                <c:pt idx="3">
                  <c:v>10.1</c:v>
                </c:pt>
                <c:pt idx="4">
                  <c:v>10</c:v>
                </c:pt>
                <c:pt idx="5">
                  <c:v>9.6</c:v>
                </c:pt>
                <c:pt idx="6">
                  <c:v>9.6</c:v>
                </c:pt>
                <c:pt idx="7">
                  <c:v>9.6</c:v>
                </c:pt>
                <c:pt idx="8">
                  <c:v>9.5</c:v>
                </c:pt>
                <c:pt idx="9">
                  <c:v>9.4</c:v>
                </c:pt>
              </c:numCache>
            </c:numRef>
          </c:val>
          <c:extLst>
            <c:ext xmlns:c16="http://schemas.microsoft.com/office/drawing/2014/chart" uri="{C3380CC4-5D6E-409C-BE32-E72D297353CC}">
              <c16:uniqueId val="{00000000-464A-4BD8-B790-09D3E0B66BA8}"/>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noFill/>
              <a:prstDash val="solid"/>
              <a:round/>
            </a:ln>
          </c:spPr>
        </c:majorGridlines>
        <c:title>
          <c:tx>
            <c:rich>
              <a:bodyPr/>
              <a:lstStyle/>
              <a:p>
                <a:pPr>
                  <a:defRPr sz="1000" b="0" i="0" u="none" strike="noStrike">
                    <a:solidFill>
                      <a:srgbClr val="6B7280"/>
                    </a:solidFill>
                    <a:latin typeface="Arial"/>
                  </a:defRPr>
                </a:pPr>
                <a:r>
                  <a:rPr lang="en-US" sz="1000" b="0" i="0" u="none" strike="noStrike">
                    <a:solidFill>
                      <a:srgbClr val="6B7280"/>
                    </a:solidFill>
                    <a:latin typeface="Arial"/>
                  </a:rPr>
                  <a:t>Revenue (USD thousands)</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Reviews</c:v>
                </c:pt>
              </c:strCache>
            </c:strRef>
          </c:tx>
          <c:spPr>
            <a:solidFill>
              <a:srgbClr val="0B2545"/>
            </a:solidFill>
            <a:effectLst/>
          </c:spPr>
          <c:invertIfNegative val="0"/>
          <c:dLbls>
            <c:numFmt formatCode="#,##0" sourceLinked="0"/>
            <c:spPr>
              <a:noFill/>
              <a:ln>
                <a:noFill/>
              </a:ln>
              <a:effectLst/>
            </c:spPr>
            <c:txPr>
              <a:bodyPr/>
              <a:lstStyle/>
              <a:p>
                <a:pPr>
                  <a:defRPr sz="11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 stars</c:v>
                </c:pt>
                <c:pt idx="1">
                  <c:v>3 stars</c:v>
                </c:pt>
                <c:pt idx="2">
                  <c:v>4 stars</c:v>
                </c:pt>
                <c:pt idx="3">
                  <c:v>5 stars</c:v>
                </c:pt>
              </c:strCache>
            </c:strRef>
          </c:cat>
          <c:val>
            <c:numRef>
              <c:f>Sheet1!$B$2:$B$5</c:f>
              <c:numCache>
                <c:formatCode>General</c:formatCode>
                <c:ptCount val="4"/>
                <c:pt idx="0">
                  <c:v>680</c:v>
                </c:pt>
                <c:pt idx="1">
                  <c:v>1585</c:v>
                </c:pt>
                <c:pt idx="2">
                  <c:v>1567</c:v>
                </c:pt>
                <c:pt idx="3">
                  <c:v>68</c:v>
                </c:pt>
              </c:numCache>
            </c:numRef>
          </c:val>
          <c:extLst>
            <c:ext xmlns:c16="http://schemas.microsoft.com/office/drawing/2014/chart" uri="{C3380CC4-5D6E-409C-BE32-E72D297353CC}">
              <c16:uniqueId val="{00000000-305B-4C5F-A034-80E98586ED5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no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Repeat customers</c:v>
                </c:pt>
              </c:strCache>
            </c:strRef>
          </c:tx>
          <c:spPr>
            <a:solidFill>
              <a:srgbClr val="0B2545"/>
            </a:solidFill>
            <a:effectLst/>
          </c:spPr>
          <c:invertIfNegative val="0"/>
          <c:dLbls>
            <c:numFmt formatCode="#,##0" sourceLinked="0"/>
            <c:spPr>
              <a:noFill/>
              <a:ln>
                <a:noFill/>
              </a:ln>
              <a:effectLst/>
            </c:spPr>
            <c:txPr>
              <a:bodyPr/>
              <a:lstStyle/>
              <a:p>
                <a:pPr>
                  <a:defRPr sz="11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Young Adult</c:v>
                </c:pt>
                <c:pt idx="1">
                  <c:v>Middle Aged</c:v>
                </c:pt>
                <c:pt idx="2">
                  <c:v>Adult</c:v>
                </c:pt>
                <c:pt idx="3">
                  <c:v>Senior</c:v>
                </c:pt>
              </c:strCache>
            </c:strRef>
          </c:cat>
          <c:val>
            <c:numRef>
              <c:f>Sheet1!$B$2:$B$5</c:f>
              <c:numCache>
                <c:formatCode>General</c:formatCode>
                <c:ptCount val="4"/>
                <c:pt idx="0">
                  <c:v>440</c:v>
                </c:pt>
                <c:pt idx="1">
                  <c:v>418</c:v>
                </c:pt>
                <c:pt idx="2">
                  <c:v>389</c:v>
                </c:pt>
                <c:pt idx="3">
                  <c:v>381</c:v>
                </c:pt>
              </c:numCache>
            </c:numRef>
          </c:val>
          <c:extLst>
            <c:ext xmlns:c16="http://schemas.microsoft.com/office/drawing/2014/chart" uri="{C3380CC4-5D6E-409C-BE32-E72D297353CC}">
              <c16:uniqueId val="{00000000-DA3F-4830-A4BE-FAC2CAC48A6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9525" cap="flat">
              <a:no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D7DEE8"/>
              </a:solidFill>
              <a:effectLst/>
            </c:spPr>
            <c:extLst>
              <c:ext xmlns:c16="http://schemas.microsoft.com/office/drawing/2014/chart" uri="{C3380CC4-5D6E-409C-BE32-E72D297353CC}">
                <c16:uniqueId val="{00000001-9B26-423A-A010-E08FF77AA0CC}"/>
              </c:ext>
            </c:extLst>
          </c:dPt>
          <c:dPt>
            <c:idx val="1"/>
            <c:bubble3D val="0"/>
            <c:spPr>
              <a:solidFill>
                <a:srgbClr val="C97C4C"/>
              </a:solidFill>
              <a:effectLst/>
            </c:spPr>
            <c:extLst>
              <c:ext xmlns:c16="http://schemas.microsoft.com/office/drawing/2014/chart" uri="{C3380CC4-5D6E-409C-BE32-E72D297353CC}">
                <c16:uniqueId val="{00000003-9B26-423A-A010-E08FF77AA0CC}"/>
              </c:ext>
            </c:extLst>
          </c:dPt>
          <c:cat>
            <c:strRef>
              <c:f>Sheet1!$A$2:$A$3</c:f>
              <c:strCache>
                <c:ptCount val="2"/>
                <c:pt idx="0">
                  <c:v>Not subscribed</c:v>
                </c:pt>
                <c:pt idx="1">
                  <c:v>Subscribed</c:v>
                </c:pt>
              </c:strCache>
            </c:strRef>
          </c:cat>
          <c:val>
            <c:numRef>
              <c:f>Sheet1!$B$2:$B$3</c:f>
              <c:numCache>
                <c:formatCode>General</c:formatCode>
                <c:ptCount val="2"/>
                <c:pt idx="0">
                  <c:v>2847</c:v>
                </c:pt>
                <c:pt idx="1">
                  <c:v>1053</c:v>
                </c:pt>
              </c:numCache>
            </c:numRef>
          </c:val>
          <c:extLst>
            <c:ext xmlns:c16="http://schemas.microsoft.com/office/drawing/2014/chart" uri="{C3380CC4-5D6E-409C-BE32-E72D297353CC}">
              <c16:uniqueId val="{00000004-9B26-423A-A010-E08FF77AA0C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1F293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B5AAB1B-F2AE-4338-BD19-41937E35B0AA}" type="datetimeFigureOut">
              <a:t>9/3/2026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B8AFF47-5225-41DF-9199-22DBFB84AAEA}" type="slidenum">
              <a:t>‹#›</a:t>
            </a:fld>
            <a:endParaRPr lang="en-US"/>
          </a:p>
        </p:txBody>
      </p:sp>
    </p:spTree>
    <p:extLst>
      <p:ext uri="{BB962C8B-B14F-4D97-AF65-F5344CB8AC3E}">
        <p14:creationId xmlns:p14="http://schemas.microsoft.com/office/powerpoint/2010/main" val="1930293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8961120" y="0"/>
            <a:ext cx="3227832" cy="6858000"/>
          </a:xfrm>
          <a:prstGeom prst="rect">
            <a:avLst/>
          </a:prstGeom>
          <a:solidFill>
            <a:srgbClr val="13315C"/>
          </a:solidFill>
          <a:ln/>
        </p:spPr>
      </p:sp>
      <p:sp>
        <p:nvSpPr>
          <p:cNvPr id="4" name="Text 2"/>
          <p:cNvSpPr txBox="1"/>
          <p:nvPr/>
        </p:nvSpPr>
        <p:spPr>
          <a:xfrm>
            <a:off x="640080" y="548640"/>
            <a:ext cx="4572000" cy="457200"/>
          </a:xfrm>
          <a:prstGeom prst="rect">
            <a:avLst/>
          </a:prstGeom>
          <a:noFill/>
          <a:ln/>
        </p:spPr>
        <p:txBody>
          <a:bodyPr wrap="square" lIns="0" tIns="0" rIns="0" bIns="0" rtlCol="0" anchor="ctr"/>
          <a:lstStyle/>
          <a:p>
            <a:r>
              <a:rPr lang="en-US" sz="1400" b="1" kern="0" spc="300" dirty="0">
                <a:solidFill>
                  <a:srgbClr val="CADCFC"/>
                </a:solidFill>
                <a:latin typeface="Calibri"/>
                <a:ea typeface="Calibri"/>
                <a:cs typeface="Calibri"/>
              </a:rPr>
              <a:t> VERITICS</a:t>
            </a:r>
            <a:endParaRPr lang="en-US" sz="1400" dirty="0">
              <a:latin typeface="Calibri"/>
              <a:ea typeface="Calibri"/>
              <a:cs typeface="Calibri"/>
            </a:endParaRPr>
          </a:p>
        </p:txBody>
      </p:sp>
      <p:sp>
        <p:nvSpPr>
          <p:cNvPr id="5" name="Text 3"/>
          <p:cNvSpPr txBox="1"/>
          <p:nvPr/>
        </p:nvSpPr>
        <p:spPr>
          <a:xfrm>
            <a:off x="640080" y="2468880"/>
            <a:ext cx="7772400" cy="182880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a:ea typeface="Cambria"/>
                <a:cs typeface="Cambria" pitchFamily="34" charset="-120"/>
              </a:rPr>
              <a:t>Customer Shopping</a:t>
            </a:r>
            <a:endParaRPr lang="en-US" sz="4000" dirty="0">
              <a:latin typeface="Cambria"/>
              <a:ea typeface="Cambria"/>
            </a:endParaRPr>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Behavior Analysis</a:t>
            </a:r>
            <a:endParaRPr lang="en-US" sz="4000" dirty="0"/>
          </a:p>
        </p:txBody>
      </p:sp>
      <p:sp>
        <p:nvSpPr>
          <p:cNvPr id="6" name="Text 4"/>
          <p:cNvSpPr txBox="1"/>
          <p:nvPr/>
        </p:nvSpPr>
        <p:spPr>
          <a:xfrm>
            <a:off x="640080" y="4343400"/>
            <a:ext cx="7132320" cy="548640"/>
          </a:xfrm>
          <a:prstGeom prst="rect">
            <a:avLst/>
          </a:prstGeom>
          <a:noFill/>
          <a:ln/>
        </p:spPr>
        <p:txBody>
          <a:bodyPr wrap="square" lIns="0" tIns="0" rIns="0" bIns="0" rtlCol="0" anchor="ctr"/>
          <a:lstStyle/>
          <a:p>
            <a:r>
              <a:rPr lang="en-US" sz="1600" dirty="0">
                <a:solidFill>
                  <a:srgbClr val="CADCFC"/>
                </a:solidFill>
                <a:latin typeface="Calibri"/>
                <a:ea typeface="Calibri"/>
                <a:cs typeface="Calibri"/>
              </a:rPr>
              <a:t>Findings and recommendations from 3,900 customer transactions</a:t>
            </a:r>
            <a:endParaRPr lang="en-US" sz="1600" dirty="0">
              <a:latin typeface="Calibri"/>
              <a:ea typeface="Calibri"/>
              <a:cs typeface="Calibri"/>
            </a:endParaRPr>
          </a:p>
        </p:txBody>
      </p:sp>
      <p:sp>
        <p:nvSpPr>
          <p:cNvPr id="7" name="Text 5"/>
          <p:cNvSpPr txBox="1"/>
          <p:nvPr/>
        </p:nvSpPr>
        <p:spPr>
          <a:xfrm>
            <a:off x="640080" y="6080760"/>
            <a:ext cx="45720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Prepared for TRYBEFUSE</a:t>
            </a:r>
            <a:endParaRPr lang="en-US" sz="1300" dirty="0"/>
          </a:p>
        </p:txBody>
      </p:sp>
      <p:sp>
        <p:nvSpPr>
          <p:cNvPr id="8" name="Text 6"/>
          <p:cNvSpPr txBox="1"/>
          <p:nvPr/>
        </p:nvSpPr>
        <p:spPr>
          <a:xfrm>
            <a:off x="640080" y="6355080"/>
            <a:ext cx="4572000" cy="320040"/>
          </a:xfrm>
          <a:prstGeom prst="rect">
            <a:avLst/>
          </a:prstGeom>
          <a:noFill/>
          <a:ln/>
        </p:spPr>
        <p:txBody>
          <a:bodyPr wrap="square" lIns="0" tIns="0" rIns="0" bIns="0" rtlCol="0" anchor="ctr"/>
          <a:lstStyle/>
          <a:p>
            <a:pPr marL="0" indent="0">
              <a:buNone/>
            </a:pPr>
            <a:r>
              <a:rPr lang="en-US" sz="1100" dirty="0">
                <a:solidFill>
                  <a:srgbClr val="9FB3C8"/>
                </a:solidFill>
                <a:latin typeface="Calibri" pitchFamily="34" charset="0"/>
                <a:ea typeface="Calibri" pitchFamily="34" charset="-122"/>
                <a:cs typeface="Calibri" pitchFamily="34" charset="-120"/>
              </a:rPr>
              <a:t>Analytics Partner: Veritics</a:t>
            </a:r>
            <a:endParaRPr lang="en-US" sz="1100" dirty="0"/>
          </a:p>
        </p:txBody>
      </p:sp>
      <p:pic>
        <p:nvPicPr>
          <p:cNvPr id="11" name="Picture 10" descr="A white and black graph with a brown tick&#10;&#10;AI-generated content may be incorrect.">
            <a:extLst>
              <a:ext uri="{FF2B5EF4-FFF2-40B4-BE49-F238E27FC236}">
                <a16:creationId xmlns:a16="http://schemas.microsoft.com/office/drawing/2014/main" id="{279186B3-39D5-A41A-B920-8D97E152B968}"/>
              </a:ext>
            </a:extLst>
          </p:cNvPr>
          <p:cNvPicPr>
            <a:picLocks noChangeAspect="1"/>
          </p:cNvPicPr>
          <p:nvPr/>
        </p:nvPicPr>
        <p:blipFill>
          <a:blip r:embed="rId3"/>
          <a:stretch>
            <a:fillRect/>
          </a:stretch>
        </p:blipFill>
        <p:spPr>
          <a:xfrm>
            <a:off x="-121478" y="447261"/>
            <a:ext cx="1512957" cy="6515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7" name="Text 5"/>
          <p:cNvSpPr txBox="1"/>
          <p:nvPr/>
        </p:nvSpPr>
        <p:spPr>
          <a:xfrm>
            <a:off x="640080" y="868680"/>
            <a:ext cx="7315200" cy="548640"/>
          </a:xfrm>
          <a:prstGeom prst="rect">
            <a:avLst/>
          </a:prstGeom>
          <a:noFill/>
          <a:ln/>
        </p:spPr>
        <p:txBody>
          <a:bodyPr wrap="square" lIns="0" tIns="0" rIns="0" bIns="0" rtlCol="0" anchor="ctr"/>
          <a:lstStyle/>
          <a:p>
            <a:pPr marL="0" indent="0">
              <a:buNone/>
            </a:pPr>
            <a:r>
              <a:rPr lang="en-US" sz="3000" b="1" dirty="0">
                <a:solidFill>
                  <a:srgbClr val="0B2545"/>
                </a:solidFill>
                <a:latin typeface="Arial"/>
                <a:ea typeface="Cambria" pitchFamily="34" charset="-122"/>
                <a:cs typeface="Arial"/>
              </a:rPr>
              <a:t>Executive snapshot</a:t>
            </a:r>
            <a:endParaRPr lang="en-US" sz="3000" dirty="0">
              <a:latin typeface="Arial"/>
              <a:cs typeface="Arial"/>
            </a:endParaRPr>
          </a:p>
        </p:txBody>
      </p:sp>
      <p:sp>
        <p:nvSpPr>
          <p:cNvPr id="8" name="Text 6"/>
          <p:cNvSpPr txBox="1"/>
          <p:nvPr/>
        </p:nvSpPr>
        <p:spPr>
          <a:xfrm>
            <a:off x="640080" y="1371600"/>
            <a:ext cx="8229600" cy="365760"/>
          </a:xfrm>
          <a:prstGeom prst="rect">
            <a:avLst/>
          </a:prstGeom>
          <a:noFill/>
          <a:ln/>
        </p:spPr>
        <p:txBody>
          <a:bodyPr wrap="square" lIns="0" tIns="0" rIns="0" bIns="0" rtlCol="0" anchor="ctr"/>
          <a:lstStyle/>
          <a:p>
            <a:pPr marL="0" indent="0">
              <a:buNone/>
            </a:pPr>
            <a:r>
              <a:rPr lang="en-US" sz="1300" dirty="0">
                <a:solidFill>
                  <a:srgbClr val="6B7280"/>
                </a:solidFill>
                <a:latin typeface="Arial"/>
                <a:ea typeface="Calibri" pitchFamily="34" charset="-122"/>
                <a:cs typeface="Arial"/>
              </a:rPr>
              <a:t>Five KPIs across 3,900 transactions, 25 items, and 50 US states</a:t>
            </a:r>
            <a:endParaRPr lang="en-US" sz="1300" dirty="0">
              <a:latin typeface="Arial"/>
              <a:cs typeface="Arial"/>
            </a:endParaRPr>
          </a:p>
        </p:txBody>
      </p:sp>
      <p:sp>
        <p:nvSpPr>
          <p:cNvPr id="9" name="Shape 7"/>
          <p:cNvSpPr/>
          <p:nvPr/>
        </p:nvSpPr>
        <p:spPr>
          <a:xfrm>
            <a:off x="640080" y="2148840"/>
            <a:ext cx="2084832" cy="1828800"/>
          </a:xfrm>
          <a:prstGeom prst="rect">
            <a:avLst/>
          </a:prstGeom>
          <a:solidFill>
            <a:srgbClr val="F7F7F5"/>
          </a:solidFill>
          <a:ln w="9525">
            <a:solidFill>
              <a:srgbClr val="E5E7EB"/>
            </a:solidFill>
            <a:prstDash val="solid"/>
          </a:ln>
        </p:spPr>
      </p:sp>
      <p:sp>
        <p:nvSpPr>
          <p:cNvPr id="10" name="Text 8"/>
          <p:cNvSpPr txBox="1"/>
          <p:nvPr/>
        </p:nvSpPr>
        <p:spPr>
          <a:xfrm>
            <a:off x="822960" y="2514600"/>
            <a:ext cx="1719072" cy="731520"/>
          </a:xfrm>
          <a:prstGeom prst="rect">
            <a:avLst/>
          </a:prstGeom>
          <a:noFill/>
          <a:ln/>
        </p:spPr>
        <p:txBody>
          <a:bodyPr wrap="square" lIns="0" tIns="0" rIns="0" bIns="0" rtlCol="0" anchor="ctr"/>
          <a:lstStyle/>
          <a:p>
            <a:pPr marL="0" indent="0">
              <a:buNone/>
            </a:pPr>
            <a:r>
              <a:rPr lang="en-US" sz="2700" b="1" dirty="0">
                <a:solidFill>
                  <a:srgbClr val="0B2545"/>
                </a:solidFill>
                <a:latin typeface="Arial"/>
                <a:ea typeface="Cambria" pitchFamily="34" charset="-122"/>
                <a:cs typeface="Arial"/>
              </a:rPr>
              <a:t>$233K</a:t>
            </a:r>
            <a:endParaRPr lang="en-US" sz="2700" dirty="0">
              <a:latin typeface="Arial"/>
              <a:cs typeface="Arial"/>
            </a:endParaRPr>
          </a:p>
        </p:txBody>
      </p:sp>
      <p:sp>
        <p:nvSpPr>
          <p:cNvPr id="11" name="Text 9"/>
          <p:cNvSpPr txBox="1"/>
          <p:nvPr/>
        </p:nvSpPr>
        <p:spPr>
          <a:xfrm>
            <a:off x="822960" y="3291840"/>
            <a:ext cx="1719072" cy="457200"/>
          </a:xfrm>
          <a:prstGeom prst="rect">
            <a:avLst/>
          </a:prstGeom>
          <a:noFill/>
          <a:ln/>
        </p:spPr>
        <p:txBody>
          <a:bodyPr wrap="square" lIns="0" tIns="0" rIns="0" bIns="0" rtlCol="0" anchor="ctr"/>
          <a:lstStyle/>
          <a:p>
            <a:pPr marL="0" indent="0">
              <a:buNone/>
            </a:pPr>
            <a:r>
              <a:rPr lang="en-US" sz="1200" dirty="0">
                <a:solidFill>
                  <a:srgbClr val="6B7280"/>
                </a:solidFill>
                <a:latin typeface="Arial"/>
                <a:ea typeface="Calibri" pitchFamily="34" charset="-122"/>
                <a:cs typeface="Arial"/>
              </a:rPr>
              <a:t>Total revenue</a:t>
            </a:r>
            <a:endParaRPr lang="en-US" sz="1200" dirty="0">
              <a:latin typeface="Arial"/>
              <a:cs typeface="Arial"/>
            </a:endParaRPr>
          </a:p>
        </p:txBody>
      </p:sp>
      <p:sp>
        <p:nvSpPr>
          <p:cNvPr id="12" name="Shape 10"/>
          <p:cNvSpPr/>
          <p:nvPr/>
        </p:nvSpPr>
        <p:spPr>
          <a:xfrm>
            <a:off x="2889504" y="2148840"/>
            <a:ext cx="2084832" cy="1828800"/>
          </a:xfrm>
          <a:prstGeom prst="rect">
            <a:avLst/>
          </a:prstGeom>
          <a:solidFill>
            <a:srgbClr val="F7F7F5"/>
          </a:solidFill>
          <a:ln w="9525">
            <a:solidFill>
              <a:srgbClr val="E5E7EB"/>
            </a:solidFill>
            <a:prstDash val="solid"/>
          </a:ln>
        </p:spPr>
      </p:sp>
      <p:sp>
        <p:nvSpPr>
          <p:cNvPr id="13" name="Text 11"/>
          <p:cNvSpPr txBox="1"/>
          <p:nvPr/>
        </p:nvSpPr>
        <p:spPr>
          <a:xfrm>
            <a:off x="3072384" y="2514600"/>
            <a:ext cx="1719072" cy="731520"/>
          </a:xfrm>
          <a:prstGeom prst="rect">
            <a:avLst/>
          </a:prstGeom>
          <a:noFill/>
          <a:ln/>
        </p:spPr>
        <p:txBody>
          <a:bodyPr wrap="square" lIns="0" tIns="0" rIns="0" bIns="0" rtlCol="0" anchor="ctr"/>
          <a:lstStyle/>
          <a:p>
            <a:pPr marL="0" indent="0">
              <a:buNone/>
            </a:pPr>
            <a:r>
              <a:rPr lang="en-US" sz="2700" b="1" dirty="0">
                <a:solidFill>
                  <a:srgbClr val="0B2545"/>
                </a:solidFill>
                <a:latin typeface="Arial"/>
                <a:ea typeface="Cambria" pitchFamily="34" charset="-122"/>
                <a:cs typeface="Arial"/>
              </a:rPr>
              <a:t>3,900</a:t>
            </a:r>
            <a:endParaRPr lang="en-US" sz="2700" dirty="0">
              <a:latin typeface="Arial"/>
              <a:cs typeface="Arial"/>
            </a:endParaRPr>
          </a:p>
        </p:txBody>
      </p:sp>
      <p:sp>
        <p:nvSpPr>
          <p:cNvPr id="14" name="Text 12"/>
          <p:cNvSpPr txBox="1"/>
          <p:nvPr/>
        </p:nvSpPr>
        <p:spPr>
          <a:xfrm>
            <a:off x="3072384" y="3291840"/>
            <a:ext cx="1719072" cy="457200"/>
          </a:xfrm>
          <a:prstGeom prst="rect">
            <a:avLst/>
          </a:prstGeom>
          <a:noFill/>
          <a:ln/>
        </p:spPr>
        <p:txBody>
          <a:bodyPr wrap="square" lIns="0" tIns="0" rIns="0" bIns="0" rtlCol="0" anchor="ctr"/>
          <a:lstStyle/>
          <a:p>
            <a:pPr marL="0" indent="0">
              <a:buNone/>
            </a:pPr>
            <a:r>
              <a:rPr lang="en-US" sz="1200" dirty="0">
                <a:solidFill>
                  <a:srgbClr val="6B7280"/>
                </a:solidFill>
                <a:latin typeface="Arial"/>
                <a:ea typeface="Calibri" pitchFamily="34" charset="-122"/>
                <a:cs typeface="Arial"/>
              </a:rPr>
              <a:t>Total orders</a:t>
            </a:r>
            <a:endParaRPr lang="en-US" sz="1200" dirty="0">
              <a:latin typeface="Arial"/>
              <a:cs typeface="Arial"/>
            </a:endParaRPr>
          </a:p>
        </p:txBody>
      </p:sp>
      <p:sp>
        <p:nvSpPr>
          <p:cNvPr id="15" name="Shape 13"/>
          <p:cNvSpPr/>
          <p:nvPr/>
        </p:nvSpPr>
        <p:spPr>
          <a:xfrm>
            <a:off x="5138928" y="2148840"/>
            <a:ext cx="2084832" cy="1828800"/>
          </a:xfrm>
          <a:prstGeom prst="rect">
            <a:avLst/>
          </a:prstGeom>
          <a:solidFill>
            <a:srgbClr val="F7F7F5"/>
          </a:solidFill>
          <a:ln w="9525">
            <a:solidFill>
              <a:srgbClr val="E5E7EB"/>
            </a:solidFill>
            <a:prstDash val="solid"/>
          </a:ln>
        </p:spPr>
      </p:sp>
      <p:sp>
        <p:nvSpPr>
          <p:cNvPr id="16" name="Text 14"/>
          <p:cNvSpPr txBox="1"/>
          <p:nvPr/>
        </p:nvSpPr>
        <p:spPr>
          <a:xfrm>
            <a:off x="5321808" y="2514600"/>
            <a:ext cx="1719072" cy="731520"/>
          </a:xfrm>
          <a:prstGeom prst="rect">
            <a:avLst/>
          </a:prstGeom>
          <a:noFill/>
          <a:ln/>
        </p:spPr>
        <p:txBody>
          <a:bodyPr wrap="square" lIns="0" tIns="0" rIns="0" bIns="0" rtlCol="0" anchor="ctr"/>
          <a:lstStyle/>
          <a:p>
            <a:pPr marL="0" indent="0">
              <a:buNone/>
            </a:pPr>
            <a:r>
              <a:rPr lang="en-US" sz="2700" b="1" dirty="0">
                <a:solidFill>
                  <a:srgbClr val="0B2545"/>
                </a:solidFill>
                <a:latin typeface="Arial"/>
                <a:ea typeface="Cambria" pitchFamily="34" charset="-122"/>
                <a:cs typeface="Arial"/>
              </a:rPr>
              <a:t>$59.76</a:t>
            </a:r>
            <a:endParaRPr lang="en-US" sz="2700" dirty="0">
              <a:latin typeface="Arial"/>
              <a:cs typeface="Arial"/>
            </a:endParaRPr>
          </a:p>
        </p:txBody>
      </p:sp>
      <p:sp>
        <p:nvSpPr>
          <p:cNvPr id="17" name="Text 15"/>
          <p:cNvSpPr txBox="1"/>
          <p:nvPr/>
        </p:nvSpPr>
        <p:spPr>
          <a:xfrm>
            <a:off x="5321808" y="3291840"/>
            <a:ext cx="1719072" cy="457200"/>
          </a:xfrm>
          <a:prstGeom prst="rect">
            <a:avLst/>
          </a:prstGeom>
          <a:noFill/>
          <a:ln/>
        </p:spPr>
        <p:txBody>
          <a:bodyPr wrap="square" lIns="0" tIns="0" rIns="0" bIns="0" rtlCol="0" anchor="ctr"/>
          <a:lstStyle/>
          <a:p>
            <a:pPr marL="0" indent="0">
              <a:buNone/>
            </a:pPr>
            <a:r>
              <a:rPr lang="en-US" sz="1200" dirty="0">
                <a:solidFill>
                  <a:srgbClr val="6B7280"/>
                </a:solidFill>
                <a:latin typeface="Arial"/>
                <a:ea typeface="Calibri" pitchFamily="34" charset="-122"/>
                <a:cs typeface="Arial"/>
              </a:rPr>
              <a:t>Avg order value</a:t>
            </a:r>
            <a:endParaRPr lang="en-US" sz="1200" dirty="0">
              <a:latin typeface="Arial"/>
              <a:cs typeface="Arial"/>
            </a:endParaRPr>
          </a:p>
        </p:txBody>
      </p:sp>
      <p:sp>
        <p:nvSpPr>
          <p:cNvPr id="18" name="Shape 16"/>
          <p:cNvSpPr/>
          <p:nvPr/>
        </p:nvSpPr>
        <p:spPr>
          <a:xfrm>
            <a:off x="7388352" y="2148840"/>
            <a:ext cx="2084832" cy="1828800"/>
          </a:xfrm>
          <a:prstGeom prst="rect">
            <a:avLst/>
          </a:prstGeom>
          <a:solidFill>
            <a:srgbClr val="F7F7F5"/>
          </a:solidFill>
          <a:ln w="9525">
            <a:solidFill>
              <a:srgbClr val="E5E7EB"/>
            </a:solidFill>
            <a:prstDash val="solid"/>
          </a:ln>
        </p:spPr>
      </p:sp>
      <p:sp>
        <p:nvSpPr>
          <p:cNvPr id="19" name="Text 17"/>
          <p:cNvSpPr txBox="1"/>
          <p:nvPr/>
        </p:nvSpPr>
        <p:spPr>
          <a:xfrm>
            <a:off x="7571232" y="2514600"/>
            <a:ext cx="1719072" cy="731520"/>
          </a:xfrm>
          <a:prstGeom prst="rect">
            <a:avLst/>
          </a:prstGeom>
          <a:noFill/>
          <a:ln/>
        </p:spPr>
        <p:txBody>
          <a:bodyPr wrap="square" lIns="0" tIns="0" rIns="0" bIns="0" rtlCol="0" anchor="ctr"/>
          <a:lstStyle/>
          <a:p>
            <a:pPr marL="0" indent="0">
              <a:buNone/>
            </a:pPr>
            <a:r>
              <a:rPr lang="en-US" sz="2700" b="1" dirty="0">
                <a:solidFill>
                  <a:srgbClr val="0B2545"/>
                </a:solidFill>
                <a:latin typeface="Arial"/>
                <a:ea typeface="Cambria" pitchFamily="34" charset="-122"/>
                <a:cs typeface="Arial"/>
              </a:rPr>
              <a:t>3.75 / 5</a:t>
            </a:r>
            <a:endParaRPr lang="en-US" sz="2700" dirty="0">
              <a:latin typeface="Arial"/>
              <a:cs typeface="Arial"/>
            </a:endParaRPr>
          </a:p>
        </p:txBody>
      </p:sp>
      <p:sp>
        <p:nvSpPr>
          <p:cNvPr id="20" name="Text 18"/>
          <p:cNvSpPr txBox="1"/>
          <p:nvPr/>
        </p:nvSpPr>
        <p:spPr>
          <a:xfrm>
            <a:off x="7571232" y="3291840"/>
            <a:ext cx="1719072" cy="457200"/>
          </a:xfrm>
          <a:prstGeom prst="rect">
            <a:avLst/>
          </a:prstGeom>
          <a:noFill/>
          <a:ln/>
        </p:spPr>
        <p:txBody>
          <a:bodyPr wrap="square" lIns="0" tIns="0" rIns="0" bIns="0" rtlCol="0" anchor="ctr"/>
          <a:lstStyle/>
          <a:p>
            <a:pPr marL="0" indent="0">
              <a:buNone/>
            </a:pPr>
            <a:r>
              <a:rPr lang="en-US" sz="1200" dirty="0">
                <a:solidFill>
                  <a:srgbClr val="6B7280"/>
                </a:solidFill>
                <a:latin typeface="Arial"/>
                <a:ea typeface="Calibri" pitchFamily="34" charset="-122"/>
                <a:cs typeface="Arial"/>
              </a:rPr>
              <a:t>Avg review rating</a:t>
            </a:r>
            <a:endParaRPr lang="en-US" sz="1200" dirty="0">
              <a:latin typeface="Arial"/>
              <a:cs typeface="Arial"/>
            </a:endParaRPr>
          </a:p>
        </p:txBody>
      </p:sp>
      <p:sp>
        <p:nvSpPr>
          <p:cNvPr id="21" name="Shape 19"/>
          <p:cNvSpPr/>
          <p:nvPr/>
        </p:nvSpPr>
        <p:spPr>
          <a:xfrm>
            <a:off x="9637776" y="2148840"/>
            <a:ext cx="2084832" cy="1828800"/>
          </a:xfrm>
          <a:prstGeom prst="rect">
            <a:avLst/>
          </a:prstGeom>
          <a:solidFill>
            <a:srgbClr val="F7F7F5"/>
          </a:solidFill>
          <a:ln w="9525">
            <a:solidFill>
              <a:srgbClr val="E5E7EB"/>
            </a:solidFill>
            <a:prstDash val="solid"/>
          </a:ln>
        </p:spPr>
      </p:sp>
      <p:sp>
        <p:nvSpPr>
          <p:cNvPr id="22" name="Text 20"/>
          <p:cNvSpPr txBox="1"/>
          <p:nvPr/>
        </p:nvSpPr>
        <p:spPr>
          <a:xfrm>
            <a:off x="9820656" y="2514600"/>
            <a:ext cx="1719072" cy="731520"/>
          </a:xfrm>
          <a:prstGeom prst="rect">
            <a:avLst/>
          </a:prstGeom>
          <a:noFill/>
          <a:ln/>
        </p:spPr>
        <p:txBody>
          <a:bodyPr wrap="square" lIns="0" tIns="0" rIns="0" bIns="0" rtlCol="0" anchor="ctr"/>
          <a:lstStyle/>
          <a:p>
            <a:pPr marL="0" indent="0">
              <a:buNone/>
            </a:pPr>
            <a:r>
              <a:rPr lang="en-US" sz="2700" b="1" dirty="0">
                <a:solidFill>
                  <a:srgbClr val="C97C4C"/>
                </a:solidFill>
                <a:latin typeface="Arial"/>
                <a:ea typeface="Cambria" pitchFamily="34" charset="-122"/>
                <a:cs typeface="Arial"/>
              </a:rPr>
              <a:t>27%</a:t>
            </a:r>
            <a:endParaRPr lang="en-US" sz="2700" dirty="0">
              <a:latin typeface="Arial"/>
              <a:cs typeface="Arial"/>
            </a:endParaRPr>
          </a:p>
        </p:txBody>
      </p:sp>
      <p:sp>
        <p:nvSpPr>
          <p:cNvPr id="23" name="Text 21"/>
          <p:cNvSpPr txBox="1"/>
          <p:nvPr/>
        </p:nvSpPr>
        <p:spPr>
          <a:xfrm>
            <a:off x="9820656" y="3291840"/>
            <a:ext cx="1719072" cy="457200"/>
          </a:xfrm>
          <a:prstGeom prst="rect">
            <a:avLst/>
          </a:prstGeom>
          <a:noFill/>
          <a:ln/>
        </p:spPr>
        <p:txBody>
          <a:bodyPr wrap="square" lIns="0" tIns="0" rIns="0" bIns="0" rtlCol="0" anchor="ctr"/>
          <a:lstStyle/>
          <a:p>
            <a:pPr marL="0" indent="0">
              <a:buNone/>
            </a:pPr>
            <a:r>
              <a:rPr lang="en-US" sz="1200" dirty="0">
                <a:solidFill>
                  <a:srgbClr val="6B7280"/>
                </a:solidFill>
                <a:latin typeface="Arial"/>
                <a:ea typeface="Calibri" pitchFamily="34" charset="-122"/>
                <a:cs typeface="Arial"/>
              </a:rPr>
              <a:t>Subscription rate</a:t>
            </a:r>
            <a:endParaRPr lang="en-US" sz="1200" dirty="0">
              <a:latin typeface="Arial"/>
              <a:cs typeface="Arial"/>
            </a:endParaRPr>
          </a:p>
        </p:txBody>
      </p:sp>
      <p:sp>
        <p:nvSpPr>
          <p:cNvPr id="24" name="Shape 22"/>
          <p:cNvSpPr/>
          <p:nvPr/>
        </p:nvSpPr>
        <p:spPr>
          <a:xfrm>
            <a:off x="640080" y="4434840"/>
            <a:ext cx="10881360" cy="1554480"/>
          </a:xfrm>
          <a:prstGeom prst="rect">
            <a:avLst/>
          </a:prstGeom>
          <a:solidFill>
            <a:srgbClr val="0B2545"/>
          </a:solidFill>
          <a:ln/>
        </p:spPr>
      </p:sp>
      <p:sp>
        <p:nvSpPr>
          <p:cNvPr id="25" name="Text 23"/>
          <p:cNvSpPr txBox="1"/>
          <p:nvPr/>
        </p:nvSpPr>
        <p:spPr>
          <a:xfrm>
            <a:off x="1005840" y="4663440"/>
            <a:ext cx="10149840" cy="1097280"/>
          </a:xfrm>
          <a:prstGeom prst="rect">
            <a:avLst/>
          </a:prstGeom>
          <a:noFill/>
          <a:ln/>
        </p:spPr>
        <p:txBody>
          <a:bodyPr wrap="square" lIns="0" tIns="0" rIns="0" bIns="0" rtlCol="0" anchor="ctr"/>
          <a:lstStyle/>
          <a:p>
            <a:pPr>
              <a:lnSpc>
                <a:spcPts val="2200"/>
              </a:lnSpc>
            </a:pPr>
            <a:r>
              <a:rPr lang="en-US" sz="1500" i="1" dirty="0">
                <a:solidFill>
                  <a:srgbClr val="FFFFFF"/>
                </a:solidFill>
                <a:latin typeface="Arial"/>
                <a:ea typeface="Calibri"/>
                <a:cs typeface="Arial"/>
              </a:rPr>
              <a:t>The revenue base is broad and evenly spread across age, tier, and category. No single segment carries the business. That stability is the platform on which two clear, underexploited levers sit on: </a:t>
            </a:r>
            <a:endParaRPr lang="en-US" sz="1500" dirty="0">
              <a:solidFill>
                <a:srgbClr val="000000"/>
              </a:solidFill>
              <a:latin typeface="Arial"/>
              <a:ea typeface="Calibri"/>
              <a:cs typeface="Arial"/>
            </a:endParaRPr>
          </a:p>
          <a:p>
            <a:pPr marL="342900" indent="-342900">
              <a:lnSpc>
                <a:spcPts val="2200"/>
              </a:lnSpc>
              <a:buAutoNum type="arabicPeriod"/>
            </a:pPr>
            <a:r>
              <a:rPr lang="en-US" sz="1500" i="1" dirty="0">
                <a:solidFill>
                  <a:srgbClr val="FFFFFF"/>
                </a:solidFill>
                <a:latin typeface="Arial"/>
                <a:ea typeface="Calibri"/>
                <a:cs typeface="Arial"/>
              </a:rPr>
              <a:t>a margin gap between Accessories and Clothing, and </a:t>
            </a:r>
            <a:endParaRPr lang="en-US" sz="1500" dirty="0">
              <a:solidFill>
                <a:srgbClr val="000000"/>
              </a:solidFill>
              <a:latin typeface="Arial"/>
              <a:ea typeface="Calibri"/>
              <a:cs typeface="Arial"/>
            </a:endParaRPr>
          </a:p>
          <a:p>
            <a:pPr marL="342900" indent="-342900">
              <a:lnSpc>
                <a:spcPts val="2200"/>
              </a:lnSpc>
              <a:buAutoNum type="arabicPeriod"/>
            </a:pPr>
            <a:r>
              <a:rPr lang="en-US" sz="1500" i="1" dirty="0">
                <a:solidFill>
                  <a:srgbClr val="FFFFFF"/>
                </a:solidFill>
                <a:latin typeface="Arial"/>
                <a:ea typeface="Calibri"/>
                <a:cs typeface="Arial"/>
              </a:rPr>
              <a:t>a total subscription blind spot on Female customers.</a:t>
            </a:r>
            <a:endParaRPr lang="en-US" sz="1500">
              <a:latin typeface="Arial"/>
              <a:ea typeface="Calibri"/>
              <a:cs typeface="Arial"/>
            </a:endParaRPr>
          </a:p>
        </p:txBody>
      </p:sp>
      <p:sp>
        <p:nvSpPr>
          <p:cNvPr id="26" name="Text 24"/>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Arial"/>
                <a:ea typeface="Calibri" pitchFamily="34" charset="-122"/>
                <a:cs typeface="Arial"/>
              </a:rPr>
              <a:t>Veritics  ×  Trybefuse</a:t>
            </a:r>
            <a:endParaRPr lang="en-US" sz="1000" dirty="0">
              <a:latin typeface="Arial"/>
              <a:cs typeface="Arial"/>
            </a:endParaRPr>
          </a:p>
        </p:txBody>
      </p:sp>
      <p:sp>
        <p:nvSpPr>
          <p:cNvPr id="27" name="Text 25"/>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a:ea typeface="Calibri" pitchFamily="34" charset="-122"/>
                <a:cs typeface="Arial"/>
              </a:rPr>
              <a:t>2</a:t>
            </a:r>
            <a:endParaRPr lang="en-US" sz="1000" dirty="0">
              <a:latin typeface="Arial"/>
              <a:cs typeface="Arial"/>
            </a:endParaRPr>
          </a:p>
        </p:txBody>
      </p:sp>
      <p:pic>
        <p:nvPicPr>
          <p:cNvPr id="28" name="Picture 27" descr="A graph with a check mark&#10;&#10;AI-generated content may be incorrect.">
            <a:extLst>
              <a:ext uri="{FF2B5EF4-FFF2-40B4-BE49-F238E27FC236}">
                <a16:creationId xmlns:a16="http://schemas.microsoft.com/office/drawing/2014/main" id="{C11C2EE1-CAF4-553A-2BF8-2176017C9BD7}"/>
              </a:ext>
            </a:extLst>
          </p:cNvPr>
          <p:cNvPicPr>
            <a:picLocks noChangeAspect="1"/>
          </p:cNvPicPr>
          <p:nvPr/>
        </p:nvPicPr>
        <p:blipFill>
          <a:blip r:embed="rId3"/>
          <a:stretch>
            <a:fillRect/>
          </a:stretch>
        </p:blipFill>
        <p:spPr>
          <a:xfrm>
            <a:off x="10536029" y="138"/>
            <a:ext cx="1964635" cy="9715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686800" cy="548640"/>
          </a:xfrm>
          <a:prstGeom prst="rect">
            <a:avLst/>
          </a:prstGeom>
          <a:noFill/>
          <a:ln/>
        </p:spPr>
        <p:txBody>
          <a:bodyPr wrap="square" lIns="0" tIns="0" rIns="0" bIns="0" rtlCol="0" anchor="ctr"/>
          <a:lstStyle/>
          <a:p>
            <a:pPr marL="0" indent="0">
              <a:buNone/>
            </a:pPr>
            <a:r>
              <a:rPr lang="en-US" sz="2600" b="1" dirty="0">
                <a:solidFill>
                  <a:srgbClr val="0B2545"/>
                </a:solidFill>
                <a:latin typeface="Cambria" pitchFamily="34" charset="0"/>
                <a:ea typeface="Cambria" pitchFamily="34" charset="-122"/>
                <a:cs typeface="Cambria" pitchFamily="34" charset="-120"/>
              </a:rPr>
              <a:t>Revenue is broad-based, not concentrated</a:t>
            </a:r>
            <a:endParaRPr lang="en-US" sz="2600" dirty="0"/>
          </a:p>
        </p:txBody>
      </p:sp>
      <p:sp>
        <p:nvSpPr>
          <p:cNvPr id="3" name="Text 1"/>
          <p:cNvSpPr txBox="1"/>
          <p:nvPr/>
        </p:nvSpPr>
        <p:spPr>
          <a:xfrm>
            <a:off x="640080" y="987552"/>
            <a:ext cx="91440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No age group or customer tier dominates — a stable, diversified customer file</a:t>
            </a:r>
            <a:endParaRPr lang="en-US" sz="1300" dirty="0"/>
          </a:p>
        </p:txBody>
      </p:sp>
      <p:sp>
        <p:nvSpPr>
          <p:cNvPr id="6" name="Text 3"/>
          <p:cNvSpPr txBox="1"/>
          <p:nvPr/>
        </p:nvSpPr>
        <p:spPr>
          <a:xfrm>
            <a:off x="6355080" y="1600200"/>
            <a:ext cx="50292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Orders by customer value tier</a:t>
            </a:r>
            <a:endParaRPr lang="en-US" sz="1400" dirty="0"/>
          </a:p>
        </p:txBody>
      </p:sp>
      <p:graphicFrame>
        <p:nvGraphicFramePr>
          <p:cNvPr id="7" name="Chart 1"/>
          <p:cNvGraphicFramePr/>
          <p:nvPr/>
        </p:nvGraphicFramePr>
        <p:xfrm>
          <a:off x="6355080" y="1965960"/>
          <a:ext cx="4937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9" name="Text 5"/>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pic>
        <p:nvPicPr>
          <p:cNvPr id="11" name="Picture 10" descr="A graph with a check mark&#10;&#10;AI-generated content may be incorrect.">
            <a:extLst>
              <a:ext uri="{FF2B5EF4-FFF2-40B4-BE49-F238E27FC236}">
                <a16:creationId xmlns:a16="http://schemas.microsoft.com/office/drawing/2014/main" id="{1C01A918-3DE9-4ED4-F89B-9EAEC78CBCD2}"/>
              </a:ext>
            </a:extLst>
          </p:cNvPr>
          <p:cNvPicPr>
            <a:picLocks noChangeAspect="1"/>
          </p:cNvPicPr>
          <p:nvPr/>
        </p:nvPicPr>
        <p:blipFill>
          <a:blip r:embed="rId4"/>
          <a:stretch>
            <a:fillRect/>
          </a:stretch>
        </p:blipFill>
        <p:spPr>
          <a:xfrm>
            <a:off x="10469770" y="139"/>
            <a:ext cx="2108200" cy="1015723"/>
          </a:xfrm>
          <a:prstGeom prst="rect">
            <a:avLst/>
          </a:prstGeom>
        </p:spPr>
      </p:pic>
      <p:pic>
        <p:nvPicPr>
          <p:cNvPr id="10" name="Picture 9">
            <a:extLst>
              <a:ext uri="{FF2B5EF4-FFF2-40B4-BE49-F238E27FC236}">
                <a16:creationId xmlns:a16="http://schemas.microsoft.com/office/drawing/2014/main" id="{644D95F0-3FFE-425C-8D68-3BF2DBA64AED}"/>
              </a:ext>
            </a:extLst>
          </p:cNvPr>
          <p:cNvPicPr>
            <a:picLocks noChangeAspect="1"/>
          </p:cNvPicPr>
          <p:nvPr/>
        </p:nvPicPr>
        <p:blipFill>
          <a:blip r:embed="rId5"/>
          <a:stretch>
            <a:fillRect/>
          </a:stretch>
        </p:blipFill>
        <p:spPr>
          <a:xfrm>
            <a:off x="228663" y="1606062"/>
            <a:ext cx="4958736" cy="42437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601200" cy="548640"/>
          </a:xfrm>
          <a:prstGeom prst="rect">
            <a:avLst/>
          </a:prstGeom>
          <a:noFill/>
          <a:ln/>
        </p:spPr>
        <p:txBody>
          <a:bodyPr wrap="square" lIns="0" tIns="0" rIns="0" bIns="0" rtlCol="0" anchor="ctr"/>
          <a:lstStyle/>
          <a:p>
            <a:pPr marL="0" indent="0">
              <a:buNone/>
            </a:pPr>
            <a:r>
              <a:rPr lang="en-US" sz="2600" b="1" dirty="0">
                <a:solidFill>
                  <a:srgbClr val="0B2545"/>
                </a:solidFill>
                <a:latin typeface="Cambria" pitchFamily="34" charset="0"/>
                <a:ea typeface="Cambria" pitchFamily="34" charset="-122"/>
                <a:cs typeface="Cambria" pitchFamily="34" charset="-120"/>
              </a:rPr>
              <a:t>Clothing drives volume — Accessories drives margin</a:t>
            </a:r>
            <a:endParaRPr lang="en-US" sz="2600" dirty="0"/>
          </a:p>
        </p:txBody>
      </p:sp>
      <p:sp>
        <p:nvSpPr>
          <p:cNvPr id="3" name="Text 1"/>
          <p:cNvSpPr txBox="1"/>
          <p:nvPr/>
        </p:nvSpPr>
        <p:spPr>
          <a:xfrm>
            <a:off x="640080" y="987552"/>
            <a:ext cx="91440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highest-revenue category is not the most profitable one</a:t>
            </a:r>
            <a:endParaRPr lang="en-US" sz="1300" dirty="0"/>
          </a:p>
        </p:txBody>
      </p:sp>
      <p:sp>
        <p:nvSpPr>
          <p:cNvPr id="4" name="Text 2"/>
          <p:cNvSpPr txBox="1"/>
          <p:nvPr/>
        </p:nvSpPr>
        <p:spPr>
          <a:xfrm>
            <a:off x="640080" y="1600200"/>
            <a:ext cx="45720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Revenue by category (USD)</a:t>
            </a:r>
            <a:endParaRPr lang="en-US" sz="1400" dirty="0"/>
          </a:p>
        </p:txBody>
      </p:sp>
      <p:graphicFrame>
        <p:nvGraphicFramePr>
          <p:cNvPr id="5" name="Chart 0"/>
          <p:cNvGraphicFramePr/>
          <p:nvPr/>
        </p:nvGraphicFramePr>
        <p:xfrm>
          <a:off x="640080" y="1965960"/>
          <a:ext cx="53949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355080" y="1600200"/>
            <a:ext cx="50292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Profit margin by category</a:t>
            </a:r>
            <a:endParaRPr lang="en-US" sz="1400" dirty="0"/>
          </a:p>
        </p:txBody>
      </p:sp>
      <p:sp>
        <p:nvSpPr>
          <p:cNvPr id="7" name="Text 4"/>
          <p:cNvSpPr txBox="1"/>
          <p:nvPr/>
        </p:nvSpPr>
        <p:spPr>
          <a:xfrm>
            <a:off x="6355080" y="2103120"/>
            <a:ext cx="1828800" cy="36576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Accessories</a:t>
            </a:r>
            <a:endParaRPr lang="en-US" sz="1300" dirty="0"/>
          </a:p>
        </p:txBody>
      </p:sp>
      <p:sp>
        <p:nvSpPr>
          <p:cNvPr id="8" name="Shape 5"/>
          <p:cNvSpPr/>
          <p:nvPr/>
        </p:nvSpPr>
        <p:spPr>
          <a:xfrm>
            <a:off x="8183880" y="2148840"/>
            <a:ext cx="3063240" cy="292608"/>
          </a:xfrm>
          <a:prstGeom prst="rect">
            <a:avLst/>
          </a:prstGeom>
          <a:solidFill>
            <a:srgbClr val="EEF1F5"/>
          </a:solidFill>
          <a:ln/>
        </p:spPr>
      </p:sp>
      <p:sp>
        <p:nvSpPr>
          <p:cNvPr id="9" name="Shape 6"/>
          <p:cNvSpPr/>
          <p:nvPr/>
        </p:nvSpPr>
        <p:spPr>
          <a:xfrm>
            <a:off x="8183880" y="2148840"/>
            <a:ext cx="1531620" cy="292608"/>
          </a:xfrm>
          <a:prstGeom prst="rect">
            <a:avLst/>
          </a:prstGeom>
          <a:solidFill>
            <a:srgbClr val="C97C4C"/>
          </a:solidFill>
          <a:ln/>
        </p:spPr>
      </p:sp>
      <p:sp>
        <p:nvSpPr>
          <p:cNvPr id="10" name="Text 7"/>
          <p:cNvSpPr txBox="1"/>
          <p:nvPr/>
        </p:nvSpPr>
        <p:spPr>
          <a:xfrm>
            <a:off x="11292840" y="2103120"/>
            <a:ext cx="548640" cy="365760"/>
          </a:xfrm>
          <a:prstGeom prst="rect">
            <a:avLst/>
          </a:prstGeom>
          <a:noFill/>
          <a:ln/>
        </p:spPr>
        <p:txBody>
          <a:bodyPr wrap="square" lIns="0" tIns="0" rIns="0" bIns="0" rtlCol="0" anchor="ctr"/>
          <a:lstStyle/>
          <a:p>
            <a:pPr marL="0" indent="0">
              <a:buNone/>
            </a:pPr>
            <a:r>
              <a:rPr lang="en-US" sz="1300" b="1" dirty="0">
                <a:solidFill>
                  <a:srgbClr val="C97C4C"/>
                </a:solidFill>
                <a:latin typeface="Calibri" pitchFamily="34" charset="0"/>
                <a:ea typeface="Calibri" pitchFamily="34" charset="-122"/>
                <a:cs typeface="Calibri" pitchFamily="34" charset="-120"/>
              </a:rPr>
              <a:t>0.50</a:t>
            </a:r>
            <a:endParaRPr lang="en-US" sz="1300" dirty="0"/>
          </a:p>
        </p:txBody>
      </p:sp>
      <p:sp>
        <p:nvSpPr>
          <p:cNvPr id="11" name="Text 8"/>
          <p:cNvSpPr txBox="1"/>
          <p:nvPr/>
        </p:nvSpPr>
        <p:spPr>
          <a:xfrm>
            <a:off x="6355080" y="3017520"/>
            <a:ext cx="1828800" cy="36576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Clothing</a:t>
            </a:r>
            <a:endParaRPr lang="en-US" sz="1300" dirty="0"/>
          </a:p>
        </p:txBody>
      </p:sp>
      <p:sp>
        <p:nvSpPr>
          <p:cNvPr id="12" name="Shape 9"/>
          <p:cNvSpPr/>
          <p:nvPr/>
        </p:nvSpPr>
        <p:spPr>
          <a:xfrm>
            <a:off x="8183880" y="3063240"/>
            <a:ext cx="3063240" cy="292608"/>
          </a:xfrm>
          <a:prstGeom prst="rect">
            <a:avLst/>
          </a:prstGeom>
          <a:solidFill>
            <a:srgbClr val="EEF1F5"/>
          </a:solidFill>
          <a:ln/>
        </p:spPr>
      </p:sp>
      <p:sp>
        <p:nvSpPr>
          <p:cNvPr id="13" name="Shape 10"/>
          <p:cNvSpPr/>
          <p:nvPr/>
        </p:nvSpPr>
        <p:spPr>
          <a:xfrm>
            <a:off x="8183880" y="3063240"/>
            <a:ext cx="1378458" cy="292608"/>
          </a:xfrm>
          <a:prstGeom prst="rect">
            <a:avLst/>
          </a:prstGeom>
          <a:solidFill>
            <a:srgbClr val="0B2545"/>
          </a:solidFill>
          <a:ln/>
        </p:spPr>
      </p:sp>
      <p:sp>
        <p:nvSpPr>
          <p:cNvPr id="14" name="Text 11"/>
          <p:cNvSpPr txBox="1"/>
          <p:nvPr/>
        </p:nvSpPr>
        <p:spPr>
          <a:xfrm>
            <a:off x="11292840" y="3017520"/>
            <a:ext cx="548640" cy="36576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0.45</a:t>
            </a:r>
            <a:endParaRPr lang="en-US" sz="1300" dirty="0"/>
          </a:p>
        </p:txBody>
      </p:sp>
      <p:sp>
        <p:nvSpPr>
          <p:cNvPr id="15" name="Text 12"/>
          <p:cNvSpPr txBox="1"/>
          <p:nvPr/>
        </p:nvSpPr>
        <p:spPr>
          <a:xfrm>
            <a:off x="6355080" y="3931920"/>
            <a:ext cx="1828800" cy="36576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Outerwear</a:t>
            </a:r>
            <a:endParaRPr lang="en-US" sz="1300" dirty="0"/>
          </a:p>
        </p:txBody>
      </p:sp>
      <p:sp>
        <p:nvSpPr>
          <p:cNvPr id="16" name="Shape 13"/>
          <p:cNvSpPr/>
          <p:nvPr/>
        </p:nvSpPr>
        <p:spPr>
          <a:xfrm>
            <a:off x="8183880" y="3977640"/>
            <a:ext cx="3063240" cy="292608"/>
          </a:xfrm>
          <a:prstGeom prst="rect">
            <a:avLst/>
          </a:prstGeom>
          <a:solidFill>
            <a:srgbClr val="EEF1F5"/>
          </a:solidFill>
          <a:ln/>
        </p:spPr>
      </p:sp>
      <p:sp>
        <p:nvSpPr>
          <p:cNvPr id="17" name="Shape 14"/>
          <p:cNvSpPr/>
          <p:nvPr/>
        </p:nvSpPr>
        <p:spPr>
          <a:xfrm>
            <a:off x="8183880" y="3977640"/>
            <a:ext cx="1225296" cy="292608"/>
          </a:xfrm>
          <a:prstGeom prst="rect">
            <a:avLst/>
          </a:prstGeom>
          <a:solidFill>
            <a:srgbClr val="0B2545"/>
          </a:solidFill>
          <a:ln/>
        </p:spPr>
      </p:sp>
      <p:sp>
        <p:nvSpPr>
          <p:cNvPr id="18" name="Text 15"/>
          <p:cNvSpPr txBox="1"/>
          <p:nvPr/>
        </p:nvSpPr>
        <p:spPr>
          <a:xfrm>
            <a:off x="11292840" y="3931920"/>
            <a:ext cx="548640" cy="36576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0.40</a:t>
            </a:r>
            <a:endParaRPr lang="en-US" sz="1300" dirty="0"/>
          </a:p>
        </p:txBody>
      </p:sp>
      <p:sp>
        <p:nvSpPr>
          <p:cNvPr id="19" name="Text 16"/>
          <p:cNvSpPr txBox="1"/>
          <p:nvPr/>
        </p:nvSpPr>
        <p:spPr>
          <a:xfrm>
            <a:off x="6355080" y="4846320"/>
            <a:ext cx="1828800" cy="365760"/>
          </a:xfrm>
          <a:prstGeom prst="rect">
            <a:avLst/>
          </a:prstGeom>
          <a:noFill/>
          <a:ln/>
        </p:spPr>
        <p:txBody>
          <a:bodyPr wrap="square" lIns="0" tIns="0" rIns="0" bIns="0" rtlCol="0" anchor="ctr"/>
          <a:lstStyle/>
          <a:p>
            <a:pPr marL="0" indent="0">
              <a:buNone/>
            </a:pPr>
            <a:r>
              <a:rPr lang="en-US" sz="1300" dirty="0">
                <a:solidFill>
                  <a:srgbClr val="1F2933"/>
                </a:solidFill>
                <a:latin typeface="Calibri" pitchFamily="34" charset="0"/>
                <a:ea typeface="Calibri" pitchFamily="34" charset="-122"/>
                <a:cs typeface="Calibri" pitchFamily="34" charset="-120"/>
              </a:rPr>
              <a:t>Footwear</a:t>
            </a:r>
            <a:endParaRPr lang="en-US" sz="1300" dirty="0"/>
          </a:p>
        </p:txBody>
      </p:sp>
      <p:sp>
        <p:nvSpPr>
          <p:cNvPr id="20" name="Shape 17"/>
          <p:cNvSpPr/>
          <p:nvPr/>
        </p:nvSpPr>
        <p:spPr>
          <a:xfrm>
            <a:off x="8183880" y="4892040"/>
            <a:ext cx="3063240" cy="292608"/>
          </a:xfrm>
          <a:prstGeom prst="rect">
            <a:avLst/>
          </a:prstGeom>
          <a:solidFill>
            <a:srgbClr val="EEF1F5"/>
          </a:solidFill>
          <a:ln/>
        </p:spPr>
      </p:sp>
      <p:sp>
        <p:nvSpPr>
          <p:cNvPr id="21" name="Shape 18"/>
          <p:cNvSpPr/>
          <p:nvPr/>
        </p:nvSpPr>
        <p:spPr>
          <a:xfrm>
            <a:off x="8183880" y="4892040"/>
            <a:ext cx="1072134" cy="292608"/>
          </a:xfrm>
          <a:prstGeom prst="rect">
            <a:avLst/>
          </a:prstGeom>
          <a:solidFill>
            <a:srgbClr val="0B2545"/>
          </a:solidFill>
          <a:ln/>
        </p:spPr>
      </p:sp>
      <p:sp>
        <p:nvSpPr>
          <p:cNvPr id="22" name="Text 19"/>
          <p:cNvSpPr txBox="1"/>
          <p:nvPr/>
        </p:nvSpPr>
        <p:spPr>
          <a:xfrm>
            <a:off x="11292840" y="4846320"/>
            <a:ext cx="548640" cy="36576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0.35</a:t>
            </a:r>
            <a:endParaRPr lang="en-US" sz="1300" dirty="0"/>
          </a:p>
        </p:txBody>
      </p:sp>
      <p:sp>
        <p:nvSpPr>
          <p:cNvPr id="23" name="Text 20"/>
          <p:cNvSpPr txBox="1"/>
          <p:nvPr/>
        </p:nvSpPr>
        <p:spPr>
          <a:xfrm>
            <a:off x="6355080" y="5806440"/>
            <a:ext cx="5029200" cy="822960"/>
          </a:xfrm>
          <a:prstGeom prst="rect">
            <a:avLst/>
          </a:prstGeom>
          <a:noFill/>
          <a:ln/>
        </p:spPr>
        <p:txBody>
          <a:bodyPr wrap="square" lIns="0" tIns="0" rIns="0" bIns="0" rtlCol="0" anchor="ctr"/>
          <a:lstStyle/>
          <a:p>
            <a:pPr marL="0" indent="0">
              <a:lnSpc>
                <a:spcPts val="1600"/>
              </a:lnSpc>
              <a:buNone/>
            </a:pPr>
            <a:r>
              <a:rPr lang="en-US" sz="1200" i="1" dirty="0">
                <a:solidFill>
                  <a:srgbClr val="6B7280"/>
                </a:solidFill>
                <a:latin typeface="Calibri" pitchFamily="34" charset="0"/>
                <a:ea typeface="Calibri" pitchFamily="34" charset="-122"/>
                <a:cs typeface="Calibri" pitchFamily="34" charset="-120"/>
              </a:rPr>
              <a:t>Accessories carries a 5-point margin advantage over Clothing despite generating 30K less revenue — a strong case for shifting promotional spend.</a:t>
            </a:r>
            <a:endParaRPr lang="en-US" sz="1200" dirty="0"/>
          </a:p>
        </p:txBody>
      </p:sp>
      <p:sp>
        <p:nvSpPr>
          <p:cNvPr id="24" name="Text 21"/>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25" name="Text 22"/>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pic>
        <p:nvPicPr>
          <p:cNvPr id="26" name="Picture 25">
            <a:extLst>
              <a:ext uri="{FF2B5EF4-FFF2-40B4-BE49-F238E27FC236}">
                <a16:creationId xmlns:a16="http://schemas.microsoft.com/office/drawing/2014/main" id="{9B3A1841-55AB-AA9F-6FAC-E44168DC18C9}"/>
              </a:ext>
            </a:extLst>
          </p:cNvPr>
          <p:cNvPicPr>
            <a:picLocks noChangeAspect="1"/>
          </p:cNvPicPr>
          <p:nvPr/>
        </p:nvPicPr>
        <p:blipFill>
          <a:blip r:embed="rId4"/>
          <a:stretch>
            <a:fillRect/>
          </a:stretch>
        </p:blipFill>
        <p:spPr>
          <a:xfrm>
            <a:off x="10812117" y="55356"/>
            <a:ext cx="2041940" cy="9494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548640"/>
          </a:xfrm>
          <a:prstGeom prst="rect">
            <a:avLst/>
          </a:prstGeom>
          <a:noFill/>
          <a:ln/>
        </p:spPr>
        <p:txBody>
          <a:bodyPr wrap="square" lIns="0" tIns="0" rIns="0" bIns="0" rtlCol="0" anchor="ctr"/>
          <a:lstStyle/>
          <a:p>
            <a:pPr marL="0" indent="0">
              <a:buNone/>
            </a:pPr>
            <a:r>
              <a:rPr lang="en-US" sz="2600" b="1" dirty="0">
                <a:solidFill>
                  <a:srgbClr val="0B2545"/>
                </a:solidFill>
                <a:latin typeface="Cambria" pitchFamily="34" charset="0"/>
                <a:ea typeface="Cambria" pitchFamily="34" charset="-122"/>
                <a:cs typeface="Cambria" pitchFamily="34" charset="-120"/>
              </a:rPr>
              <a:t>Top 10 items by revenue</a:t>
            </a:r>
            <a:endParaRPr lang="en-US" sz="2600" dirty="0"/>
          </a:p>
        </p:txBody>
      </p:sp>
      <p:sp>
        <p:nvSpPr>
          <p:cNvPr id="3" name="Text 1"/>
          <p:cNvSpPr txBox="1"/>
          <p:nvPr/>
        </p:nvSpPr>
        <p:spPr>
          <a:xfrm>
            <a:off x="640080" y="987552"/>
            <a:ext cx="91440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 diversified product mix — no single hero SKU carries the catalog</a:t>
            </a:r>
            <a:endParaRPr lang="en-US" sz="1300" dirty="0"/>
          </a:p>
        </p:txBody>
      </p:sp>
      <p:graphicFrame>
        <p:nvGraphicFramePr>
          <p:cNvPr id="4" name="Chart 0"/>
          <p:cNvGraphicFramePr/>
          <p:nvPr/>
        </p:nvGraphicFramePr>
        <p:xfrm>
          <a:off x="640080" y="1600200"/>
          <a:ext cx="108813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6" name="Text 3"/>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pic>
        <p:nvPicPr>
          <p:cNvPr id="7" name="Picture 6">
            <a:extLst>
              <a:ext uri="{FF2B5EF4-FFF2-40B4-BE49-F238E27FC236}">
                <a16:creationId xmlns:a16="http://schemas.microsoft.com/office/drawing/2014/main" id="{2B3B892B-C9E1-87E1-263D-0250C2B990DE}"/>
              </a:ext>
            </a:extLst>
          </p:cNvPr>
          <p:cNvPicPr>
            <a:picLocks noChangeAspect="1"/>
          </p:cNvPicPr>
          <p:nvPr/>
        </p:nvPicPr>
        <p:blipFill>
          <a:blip r:embed="rId4"/>
          <a:stretch>
            <a:fillRect/>
          </a:stretch>
        </p:blipFill>
        <p:spPr>
          <a:xfrm>
            <a:off x="10469769" y="11182"/>
            <a:ext cx="2284897" cy="11813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686800" cy="548640"/>
          </a:xfrm>
          <a:prstGeom prst="rect">
            <a:avLst/>
          </a:prstGeom>
          <a:noFill/>
          <a:ln/>
        </p:spPr>
        <p:txBody>
          <a:bodyPr wrap="square" lIns="0" tIns="0" rIns="0" bIns="0" rtlCol="0" anchor="ctr"/>
          <a:lstStyle/>
          <a:p>
            <a:pPr marL="0" indent="0">
              <a:buNone/>
            </a:pPr>
            <a:r>
              <a:rPr lang="en-US" sz="2600" b="1" dirty="0">
                <a:solidFill>
                  <a:srgbClr val="0B2545"/>
                </a:solidFill>
                <a:latin typeface="Cambria" pitchFamily="34" charset="0"/>
                <a:ea typeface="Cambria" pitchFamily="34" charset="-122"/>
                <a:cs typeface="Cambria" pitchFamily="34" charset="-120"/>
              </a:rPr>
              <a:t>Satisfaction is solid, not exceptional</a:t>
            </a:r>
            <a:endParaRPr lang="en-US" sz="2600" dirty="0"/>
          </a:p>
        </p:txBody>
      </p:sp>
      <p:sp>
        <p:nvSpPr>
          <p:cNvPr id="3" name="Text 1"/>
          <p:cNvSpPr txBox="1"/>
          <p:nvPr/>
        </p:nvSpPr>
        <p:spPr>
          <a:xfrm>
            <a:off x="640080" y="987552"/>
            <a:ext cx="96012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Ratings cluster in the middle — room to convert satisfied customers into advocates</a:t>
            </a:r>
            <a:endParaRPr lang="en-US" sz="1300" dirty="0"/>
          </a:p>
        </p:txBody>
      </p:sp>
      <p:sp>
        <p:nvSpPr>
          <p:cNvPr id="4" name="Shape 2"/>
          <p:cNvSpPr/>
          <p:nvPr/>
        </p:nvSpPr>
        <p:spPr>
          <a:xfrm>
            <a:off x="640080" y="1737360"/>
            <a:ext cx="2926080" cy="4206240"/>
          </a:xfrm>
          <a:prstGeom prst="rect">
            <a:avLst/>
          </a:prstGeom>
          <a:solidFill>
            <a:srgbClr val="0B2545"/>
          </a:solidFill>
          <a:ln/>
        </p:spPr>
      </p:sp>
      <p:sp>
        <p:nvSpPr>
          <p:cNvPr id="5" name="Text 3"/>
          <p:cNvSpPr txBox="1"/>
          <p:nvPr/>
        </p:nvSpPr>
        <p:spPr>
          <a:xfrm>
            <a:off x="640080" y="2926080"/>
            <a:ext cx="2926080" cy="100584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3.75</a:t>
            </a:r>
            <a:endParaRPr lang="en-US" sz="5200" dirty="0"/>
          </a:p>
        </p:txBody>
      </p:sp>
      <p:sp>
        <p:nvSpPr>
          <p:cNvPr id="6" name="Text 4"/>
          <p:cNvSpPr txBox="1"/>
          <p:nvPr/>
        </p:nvSpPr>
        <p:spPr>
          <a:xfrm>
            <a:off x="640080" y="3794760"/>
            <a:ext cx="2926080" cy="3657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out of 5</a:t>
            </a:r>
            <a:endParaRPr lang="en-US" sz="1400" dirty="0"/>
          </a:p>
        </p:txBody>
      </p:sp>
      <p:sp>
        <p:nvSpPr>
          <p:cNvPr id="7" name="Text 5"/>
          <p:cNvSpPr txBox="1"/>
          <p:nvPr/>
        </p:nvSpPr>
        <p:spPr>
          <a:xfrm>
            <a:off x="822960" y="4572000"/>
            <a:ext cx="2560320" cy="457200"/>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average review rating</a:t>
            </a:r>
            <a:endParaRPr lang="en-US" sz="1200" dirty="0"/>
          </a:p>
        </p:txBody>
      </p:sp>
      <p:sp>
        <p:nvSpPr>
          <p:cNvPr id="8" name="Text 6"/>
          <p:cNvSpPr txBox="1"/>
          <p:nvPr/>
        </p:nvSpPr>
        <p:spPr>
          <a:xfrm>
            <a:off x="3931920" y="1737360"/>
            <a:ext cx="45720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Rating distribution</a:t>
            </a:r>
            <a:endParaRPr lang="en-US" sz="1400" dirty="0"/>
          </a:p>
        </p:txBody>
      </p:sp>
      <p:graphicFrame>
        <p:nvGraphicFramePr>
          <p:cNvPr id="9" name="Chart 0"/>
          <p:cNvGraphicFramePr/>
          <p:nvPr/>
        </p:nvGraphicFramePr>
        <p:xfrm>
          <a:off x="3931920" y="2103120"/>
          <a:ext cx="75895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11" name="Text 8"/>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pic>
        <p:nvPicPr>
          <p:cNvPr id="12" name="Picture 11">
            <a:extLst>
              <a:ext uri="{FF2B5EF4-FFF2-40B4-BE49-F238E27FC236}">
                <a16:creationId xmlns:a16="http://schemas.microsoft.com/office/drawing/2014/main" id="{A4E9CC06-AA84-8F8C-E117-9E2FE6FBB12E}"/>
              </a:ext>
            </a:extLst>
          </p:cNvPr>
          <p:cNvPicPr>
            <a:picLocks noChangeAspect="1"/>
          </p:cNvPicPr>
          <p:nvPr/>
        </p:nvPicPr>
        <p:blipFill>
          <a:blip r:embed="rId4"/>
          <a:stretch>
            <a:fillRect/>
          </a:stretch>
        </p:blipFill>
        <p:spPr>
          <a:xfrm>
            <a:off x="10602291" y="138"/>
            <a:ext cx="2196549" cy="10157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9144000" cy="457200"/>
          </a:xfrm>
          <a:prstGeom prst="rect">
            <a:avLst/>
          </a:prstGeom>
          <a:noFill/>
          <a:ln/>
        </p:spPr>
        <p:txBody>
          <a:bodyPr wrap="square" lIns="0" tIns="0" rIns="0" bIns="0" rtlCol="0" anchor="ctr"/>
          <a:lstStyle/>
          <a:p>
            <a:pPr marL="0" indent="0">
              <a:buNone/>
            </a:pPr>
            <a:r>
              <a:rPr lang="en-US" sz="1400" b="1" kern="0" spc="150" dirty="0">
                <a:solidFill>
                  <a:srgbClr val="C97C4C"/>
                </a:solidFill>
                <a:latin typeface="Calibri" pitchFamily="34" charset="0"/>
                <a:ea typeface="Calibri" pitchFamily="34" charset="-122"/>
                <a:cs typeface="Calibri" pitchFamily="34" charset="-120"/>
              </a:rPr>
              <a:t>The biggest opportunity in this dataset</a:t>
            </a:r>
            <a:endParaRPr lang="en-US" sz="1400" dirty="0"/>
          </a:p>
        </p:txBody>
      </p:sp>
      <p:sp>
        <p:nvSpPr>
          <p:cNvPr id="3" name="Text 1"/>
          <p:cNvSpPr txBox="1"/>
          <p:nvPr/>
        </p:nvSpPr>
        <p:spPr>
          <a:xfrm>
            <a:off x="640080" y="1005840"/>
            <a:ext cx="10515600" cy="10058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Zero female customers are subscribed</a:t>
            </a:r>
            <a:endParaRPr lang="en-US" sz="3800" dirty="0"/>
          </a:p>
        </p:txBody>
      </p:sp>
      <p:sp>
        <p:nvSpPr>
          <p:cNvPr id="4" name="Text 2"/>
          <p:cNvSpPr txBox="1"/>
          <p:nvPr/>
        </p:nvSpPr>
        <p:spPr>
          <a:xfrm>
            <a:off x="640080" y="1828800"/>
            <a:ext cx="91440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despite Female average order value ($60.25) outpacing Male ($59.54)</a:t>
            </a:r>
            <a:endParaRPr lang="en-US" sz="1500" dirty="0"/>
          </a:p>
        </p:txBody>
      </p:sp>
      <p:sp>
        <p:nvSpPr>
          <p:cNvPr id="5" name="Shape 3"/>
          <p:cNvSpPr/>
          <p:nvPr/>
        </p:nvSpPr>
        <p:spPr>
          <a:xfrm>
            <a:off x="640080" y="2651760"/>
            <a:ext cx="3383280" cy="3200400"/>
          </a:xfrm>
          <a:prstGeom prst="rect">
            <a:avLst/>
          </a:prstGeom>
          <a:solidFill>
            <a:srgbClr val="13315C"/>
          </a:solidFill>
          <a:ln/>
        </p:spPr>
      </p:sp>
      <p:sp>
        <p:nvSpPr>
          <p:cNvPr id="6" name="Text 4"/>
          <p:cNvSpPr txBox="1"/>
          <p:nvPr/>
        </p:nvSpPr>
        <p:spPr>
          <a:xfrm>
            <a:off x="640080" y="2926080"/>
            <a:ext cx="338328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27%</a:t>
            </a:r>
            <a:endParaRPr lang="en-US" sz="4400" dirty="0"/>
          </a:p>
        </p:txBody>
      </p:sp>
      <p:sp>
        <p:nvSpPr>
          <p:cNvPr id="7" name="Text 5"/>
          <p:cNvSpPr txBox="1"/>
          <p:nvPr/>
        </p:nvSpPr>
        <p:spPr>
          <a:xfrm>
            <a:off x="822960" y="3886200"/>
            <a:ext cx="3017520" cy="457200"/>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overall subscription rate</a:t>
            </a:r>
            <a:endParaRPr lang="en-US" sz="1200" dirty="0"/>
          </a:p>
        </p:txBody>
      </p:sp>
      <p:sp>
        <p:nvSpPr>
          <p:cNvPr id="8" name="Text 6"/>
          <p:cNvSpPr txBox="1"/>
          <p:nvPr/>
        </p:nvSpPr>
        <p:spPr>
          <a:xfrm>
            <a:off x="822960" y="4434840"/>
            <a:ext cx="3017520" cy="1188720"/>
          </a:xfrm>
          <a:prstGeom prst="rect">
            <a:avLst/>
          </a:prstGeom>
          <a:noFill/>
          <a:ln/>
        </p:spPr>
        <p:txBody>
          <a:bodyPr wrap="square" lIns="0" tIns="0" rIns="0" bIns="0" rtlCol="0" anchor="ctr"/>
          <a:lstStyle/>
          <a:p>
            <a:pPr marL="0" indent="0" algn="ctr">
              <a:lnSpc>
                <a:spcPts val="1500"/>
              </a:lnSpc>
              <a:buNone/>
            </a:pPr>
            <a:r>
              <a:rPr lang="en-US" sz="1100" dirty="0">
                <a:solidFill>
                  <a:srgbClr val="9FB3C8"/>
                </a:solidFill>
                <a:latin typeface="Calibri" pitchFamily="34" charset="0"/>
                <a:ea typeface="Calibri" pitchFamily="34" charset="-122"/>
                <a:cs typeface="Calibri" pitchFamily="34" charset="-120"/>
              </a:rPr>
              <a:t>1,053 of 3,900 customers subscribed — all of them male</a:t>
            </a:r>
            <a:endParaRPr lang="en-US" sz="1100" dirty="0"/>
          </a:p>
        </p:txBody>
      </p:sp>
      <p:sp>
        <p:nvSpPr>
          <p:cNvPr id="9" name="Shape 7"/>
          <p:cNvSpPr/>
          <p:nvPr/>
        </p:nvSpPr>
        <p:spPr>
          <a:xfrm>
            <a:off x="4251960" y="2651760"/>
            <a:ext cx="3383280" cy="3200400"/>
          </a:xfrm>
          <a:prstGeom prst="rect">
            <a:avLst/>
          </a:prstGeom>
          <a:solidFill>
            <a:srgbClr val="13315C"/>
          </a:solidFill>
          <a:ln/>
        </p:spPr>
      </p:sp>
      <p:sp>
        <p:nvSpPr>
          <p:cNvPr id="10" name="Text 8"/>
          <p:cNvSpPr txBox="1"/>
          <p:nvPr/>
        </p:nvSpPr>
        <p:spPr>
          <a:xfrm>
            <a:off x="4251960" y="2926080"/>
            <a:ext cx="3383280" cy="914400"/>
          </a:xfrm>
          <a:prstGeom prst="rect">
            <a:avLst/>
          </a:prstGeom>
          <a:noFill/>
          <a:ln/>
        </p:spPr>
        <p:txBody>
          <a:bodyPr wrap="square" lIns="0" tIns="0" rIns="0" bIns="0" rtlCol="0" anchor="ctr"/>
          <a:lstStyle/>
          <a:p>
            <a:pPr marL="0" indent="0" algn="ctr">
              <a:buNone/>
            </a:pPr>
            <a:r>
              <a:rPr lang="en-US" sz="4000" b="1" dirty="0">
                <a:solidFill>
                  <a:srgbClr val="C97C4C"/>
                </a:solidFill>
                <a:latin typeface="Cambria" pitchFamily="34" charset="0"/>
                <a:ea typeface="Cambria" pitchFamily="34" charset="-122"/>
                <a:cs typeface="Cambria" pitchFamily="34" charset="-120"/>
              </a:rPr>
              <a:t>$60.25</a:t>
            </a:r>
            <a:endParaRPr lang="en-US" sz="4000" dirty="0"/>
          </a:p>
        </p:txBody>
      </p:sp>
      <p:sp>
        <p:nvSpPr>
          <p:cNvPr id="11" name="Text 9"/>
          <p:cNvSpPr txBox="1"/>
          <p:nvPr/>
        </p:nvSpPr>
        <p:spPr>
          <a:xfrm>
            <a:off x="4434840" y="3886200"/>
            <a:ext cx="3017520" cy="457200"/>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female average order value</a:t>
            </a:r>
            <a:endParaRPr lang="en-US" sz="1200" dirty="0"/>
          </a:p>
        </p:txBody>
      </p:sp>
      <p:sp>
        <p:nvSpPr>
          <p:cNvPr id="12" name="Text 10"/>
          <p:cNvSpPr txBox="1"/>
          <p:nvPr/>
        </p:nvSpPr>
        <p:spPr>
          <a:xfrm>
            <a:off x="4434840" y="4434840"/>
            <a:ext cx="3017520" cy="1188720"/>
          </a:xfrm>
          <a:prstGeom prst="rect">
            <a:avLst/>
          </a:prstGeom>
          <a:noFill/>
          <a:ln/>
        </p:spPr>
        <p:txBody>
          <a:bodyPr wrap="square" lIns="0" tIns="0" rIns="0" bIns="0" rtlCol="0" anchor="ctr"/>
          <a:lstStyle/>
          <a:p>
            <a:pPr marL="0" indent="0" algn="ctr">
              <a:lnSpc>
                <a:spcPts val="1500"/>
              </a:lnSpc>
              <a:buNone/>
            </a:pPr>
            <a:r>
              <a:rPr lang="en-US" sz="1100" dirty="0">
                <a:solidFill>
                  <a:srgbClr val="9FB3C8"/>
                </a:solidFill>
                <a:latin typeface="Calibri" pitchFamily="34" charset="0"/>
                <a:ea typeface="Calibri" pitchFamily="34" charset="-122"/>
                <a:cs typeface="Calibri" pitchFamily="34" charset="-120"/>
              </a:rPr>
              <a:t>vs. $59.54 for male customers — the higher-spending segment isn't the one being retained</a:t>
            </a:r>
            <a:endParaRPr lang="en-US" sz="1100" dirty="0"/>
          </a:p>
        </p:txBody>
      </p:sp>
      <p:sp>
        <p:nvSpPr>
          <p:cNvPr id="13" name="Shape 11"/>
          <p:cNvSpPr/>
          <p:nvPr/>
        </p:nvSpPr>
        <p:spPr>
          <a:xfrm>
            <a:off x="7863840" y="2651760"/>
            <a:ext cx="3657600" cy="3200400"/>
          </a:xfrm>
          <a:prstGeom prst="rect">
            <a:avLst/>
          </a:prstGeom>
          <a:solidFill>
            <a:srgbClr val="C97C4C"/>
          </a:solidFill>
          <a:ln/>
        </p:spPr>
      </p:sp>
      <p:sp>
        <p:nvSpPr>
          <p:cNvPr id="14" name="Text 12"/>
          <p:cNvSpPr txBox="1"/>
          <p:nvPr/>
        </p:nvSpPr>
        <p:spPr>
          <a:xfrm>
            <a:off x="7863840" y="2926080"/>
            <a:ext cx="3657600" cy="914400"/>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1,248</a:t>
            </a:r>
            <a:endParaRPr lang="en-US" sz="4000" dirty="0"/>
          </a:p>
        </p:txBody>
      </p:sp>
      <p:sp>
        <p:nvSpPr>
          <p:cNvPr id="15" name="Text 13"/>
          <p:cNvSpPr txBox="1"/>
          <p:nvPr/>
        </p:nvSpPr>
        <p:spPr>
          <a:xfrm>
            <a:off x="8046720" y="3886200"/>
            <a:ext cx="3291840" cy="731520"/>
          </a:xfrm>
          <a:prstGeom prst="rect">
            <a:avLst/>
          </a:prstGeom>
          <a:noFill/>
          <a:ln/>
        </p:spPr>
        <p:txBody>
          <a:bodyPr wrap="square" lIns="0" tIns="0" rIns="0" bIns="0" rtlCol="0" anchor="ctr"/>
          <a:lstStyle/>
          <a:p>
            <a:pPr marL="0" indent="0" algn="ctr">
              <a:lnSpc>
                <a:spcPts val="1500"/>
              </a:lnSpc>
              <a:buNone/>
            </a:pPr>
            <a:r>
              <a:rPr lang="en-US" sz="1200" b="1" dirty="0">
                <a:solidFill>
                  <a:srgbClr val="0B2545"/>
                </a:solidFill>
                <a:latin typeface="Calibri" pitchFamily="34" charset="0"/>
                <a:ea typeface="Calibri" pitchFamily="34" charset="-122"/>
                <a:cs typeface="Calibri" pitchFamily="34" charset="-120"/>
              </a:rPr>
              <a:t>female customers with zero subscription reach</a:t>
            </a:r>
            <a:endParaRPr lang="en-US" sz="1200" dirty="0"/>
          </a:p>
        </p:txBody>
      </p:sp>
      <p:sp>
        <p:nvSpPr>
          <p:cNvPr id="16" name="Text 14"/>
          <p:cNvSpPr txBox="1"/>
          <p:nvPr/>
        </p:nvSpPr>
        <p:spPr>
          <a:xfrm>
            <a:off x="8046720" y="4663440"/>
            <a:ext cx="3291840" cy="1005840"/>
          </a:xfrm>
          <a:prstGeom prst="rect">
            <a:avLst/>
          </a:prstGeom>
          <a:noFill/>
          <a:ln/>
        </p:spPr>
        <p:txBody>
          <a:bodyPr wrap="square" lIns="0" tIns="0" rIns="0" bIns="0" rtlCol="0" anchor="ctr"/>
          <a:lstStyle/>
          <a:p>
            <a:pPr marL="0" indent="0" algn="ctr">
              <a:lnSpc>
                <a:spcPts val="1500"/>
              </a:lnSpc>
              <a:buNone/>
            </a:pPr>
            <a:r>
              <a:rPr lang="en-US" sz="1100" dirty="0">
                <a:solidFill>
                  <a:srgbClr val="13315C"/>
                </a:solidFill>
                <a:latin typeface="Calibri" pitchFamily="34" charset="0"/>
                <a:ea typeface="Calibri" pitchFamily="34" charset="-122"/>
                <a:cs typeface="Calibri" pitchFamily="34" charset="-120"/>
              </a:rPr>
              <a:t>an entire, higher-value segment untouched by the current retention mechanism</a:t>
            </a:r>
            <a:endParaRPr lang="en-US" sz="1100" dirty="0"/>
          </a:p>
        </p:txBody>
      </p:sp>
      <p:sp>
        <p:nvSpPr>
          <p:cNvPr id="17" name="Text 15"/>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18" name="Text 16"/>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pic>
        <p:nvPicPr>
          <p:cNvPr id="19" name="Picture 18">
            <a:extLst>
              <a:ext uri="{FF2B5EF4-FFF2-40B4-BE49-F238E27FC236}">
                <a16:creationId xmlns:a16="http://schemas.microsoft.com/office/drawing/2014/main" id="{62A67901-448B-7A40-E53B-8F34533835CB}"/>
              </a:ext>
            </a:extLst>
          </p:cNvPr>
          <p:cNvPicPr>
            <a:picLocks noChangeAspect="1"/>
          </p:cNvPicPr>
          <p:nvPr/>
        </p:nvPicPr>
        <p:blipFill>
          <a:blip r:embed="rId3"/>
          <a:stretch>
            <a:fillRect/>
          </a:stretch>
        </p:blipFill>
        <p:spPr>
          <a:xfrm>
            <a:off x="10502348" y="270565"/>
            <a:ext cx="2396435" cy="10049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686800" cy="548640"/>
          </a:xfrm>
          <a:prstGeom prst="rect">
            <a:avLst/>
          </a:prstGeom>
          <a:noFill/>
          <a:ln/>
        </p:spPr>
        <p:txBody>
          <a:bodyPr wrap="square" lIns="0" tIns="0" rIns="0" bIns="0" rtlCol="0" anchor="ctr"/>
          <a:lstStyle/>
          <a:p>
            <a:pPr marL="0" indent="0">
              <a:buNone/>
            </a:pPr>
            <a:r>
              <a:rPr lang="en-US" sz="2600" b="1" dirty="0">
                <a:solidFill>
                  <a:srgbClr val="0B2545"/>
                </a:solidFill>
                <a:latin typeface="Cambria" pitchFamily="34" charset="0"/>
                <a:ea typeface="Cambria" pitchFamily="34" charset="-122"/>
                <a:cs typeface="Cambria" pitchFamily="34" charset="-120"/>
              </a:rPr>
              <a:t>Loyalty is even across age groups</a:t>
            </a:r>
            <a:endParaRPr lang="en-US" sz="2600" dirty="0"/>
          </a:p>
        </p:txBody>
      </p:sp>
      <p:sp>
        <p:nvSpPr>
          <p:cNvPr id="3" name="Text 1"/>
          <p:cNvSpPr txBox="1"/>
          <p:nvPr/>
        </p:nvSpPr>
        <p:spPr>
          <a:xfrm>
            <a:off x="640080" y="987552"/>
            <a:ext cx="10058400" cy="365760"/>
          </a:xfrm>
          <a:prstGeom prst="rect">
            <a:avLst/>
          </a:prstGeom>
          <a:noFill/>
          <a:ln/>
        </p:spPr>
        <p:txBody>
          <a:bodyPr wrap="square" lIns="0" tIns="0" rIns="0" bIns="0" rtlCol="0" anchor="ctr"/>
          <a:lstStyle/>
          <a:p>
            <a:r>
              <a:rPr lang="en-US" sz="1300" dirty="0">
                <a:solidFill>
                  <a:srgbClr val="6B7280"/>
                </a:solidFill>
                <a:latin typeface="Calibri"/>
                <a:ea typeface="Calibri"/>
                <a:cs typeface="Calibri"/>
              </a:rPr>
              <a:t>Repeat purchasing behavior doesn't skew young or old, retention programs </a:t>
            </a:r>
            <a:r>
              <a:rPr lang="en-US" sz="1300" dirty="0" err="1">
                <a:solidFill>
                  <a:srgbClr val="6B7280"/>
                </a:solidFill>
                <a:latin typeface="Calibri"/>
                <a:ea typeface="Calibri"/>
                <a:cs typeface="Calibri"/>
              </a:rPr>
              <a:t>can not</a:t>
            </a:r>
            <a:r>
              <a:rPr lang="en-US" sz="1300" dirty="0">
                <a:solidFill>
                  <a:srgbClr val="6B7280"/>
                </a:solidFill>
                <a:latin typeface="Calibri"/>
                <a:ea typeface="Calibri"/>
                <a:cs typeface="Calibri"/>
              </a:rPr>
              <a:t> be dependent on age</a:t>
            </a:r>
            <a:endParaRPr lang="en-US" sz="1300" dirty="0"/>
          </a:p>
        </p:txBody>
      </p:sp>
      <p:sp>
        <p:nvSpPr>
          <p:cNvPr id="4" name="Text 2"/>
          <p:cNvSpPr txBox="1"/>
          <p:nvPr/>
        </p:nvSpPr>
        <p:spPr>
          <a:xfrm>
            <a:off x="640080" y="1600200"/>
            <a:ext cx="50292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Repeat customers by age group</a:t>
            </a:r>
            <a:endParaRPr lang="en-US" sz="1400" dirty="0"/>
          </a:p>
        </p:txBody>
      </p:sp>
      <p:graphicFrame>
        <p:nvGraphicFramePr>
          <p:cNvPr id="5" name="Chart 0"/>
          <p:cNvGraphicFramePr/>
          <p:nvPr/>
        </p:nvGraphicFramePr>
        <p:xfrm>
          <a:off x="640080" y="1965960"/>
          <a:ext cx="53949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355080" y="1600200"/>
            <a:ext cx="5029200"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Subscription vs. non-subscription</a:t>
            </a:r>
            <a:endParaRPr lang="en-US" sz="1400" dirty="0"/>
          </a:p>
        </p:txBody>
      </p:sp>
      <p:graphicFrame>
        <p:nvGraphicFramePr>
          <p:cNvPr id="7" name="Chart 1"/>
          <p:cNvGraphicFramePr/>
          <p:nvPr/>
        </p:nvGraphicFramePr>
        <p:xfrm>
          <a:off x="6355080" y="1965960"/>
          <a:ext cx="493776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9" name="Text 5"/>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pic>
        <p:nvPicPr>
          <p:cNvPr id="10" name="Picture 9">
            <a:extLst>
              <a:ext uri="{FF2B5EF4-FFF2-40B4-BE49-F238E27FC236}">
                <a16:creationId xmlns:a16="http://schemas.microsoft.com/office/drawing/2014/main" id="{6B0422C6-08ED-90CE-EA09-8D5B8354E862}"/>
              </a:ext>
            </a:extLst>
          </p:cNvPr>
          <p:cNvPicPr>
            <a:picLocks noChangeAspect="1"/>
          </p:cNvPicPr>
          <p:nvPr/>
        </p:nvPicPr>
        <p:blipFill>
          <a:blip r:embed="rId5"/>
          <a:stretch>
            <a:fillRect/>
          </a:stretch>
        </p:blipFill>
        <p:spPr>
          <a:xfrm>
            <a:off x="10600592" y="112102"/>
            <a:ext cx="1846385" cy="9012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5486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Recommendations</a:t>
            </a:r>
            <a:endParaRPr lang="en-US" sz="2800" dirty="0"/>
          </a:p>
        </p:txBody>
      </p:sp>
      <p:sp>
        <p:nvSpPr>
          <p:cNvPr id="3" name="Text 1"/>
          <p:cNvSpPr txBox="1"/>
          <p:nvPr/>
        </p:nvSpPr>
        <p:spPr>
          <a:xfrm>
            <a:off x="640080" y="1005840"/>
            <a:ext cx="100584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Four moves that convert these findings into revenue and retention gains</a:t>
            </a:r>
            <a:endParaRPr lang="en-US" sz="1300" dirty="0"/>
          </a:p>
        </p:txBody>
      </p:sp>
      <p:sp>
        <p:nvSpPr>
          <p:cNvPr id="4" name="Shape 2"/>
          <p:cNvSpPr/>
          <p:nvPr/>
        </p:nvSpPr>
        <p:spPr>
          <a:xfrm>
            <a:off x="640080" y="1691640"/>
            <a:ext cx="5257800" cy="2011680"/>
          </a:xfrm>
          <a:prstGeom prst="rect">
            <a:avLst/>
          </a:prstGeom>
          <a:solidFill>
            <a:srgbClr val="F7F7F5"/>
          </a:solidFill>
          <a:ln w="9525">
            <a:solidFill>
              <a:srgbClr val="E5E7EB"/>
            </a:solidFill>
            <a:prstDash val="solid"/>
          </a:ln>
        </p:spPr>
      </p:sp>
      <p:sp>
        <p:nvSpPr>
          <p:cNvPr id="5" name="Text 3"/>
          <p:cNvSpPr txBox="1"/>
          <p:nvPr/>
        </p:nvSpPr>
        <p:spPr>
          <a:xfrm>
            <a:off x="868680" y="1874520"/>
            <a:ext cx="914400" cy="548640"/>
          </a:xfrm>
          <a:prstGeom prst="rect">
            <a:avLst/>
          </a:prstGeom>
          <a:noFill/>
          <a:ln/>
        </p:spPr>
        <p:txBody>
          <a:bodyPr wrap="square" lIns="0" tIns="0" rIns="0" bIns="0" rtlCol="0" anchor="ctr"/>
          <a:lstStyle/>
          <a:p>
            <a:pPr marL="0" indent="0">
              <a:buNone/>
            </a:pPr>
            <a:r>
              <a:rPr lang="en-US" sz="2400" b="1" dirty="0">
                <a:solidFill>
                  <a:srgbClr val="C97C4C"/>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868680" y="2377440"/>
            <a:ext cx="480060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Close the subscription gender gap</a:t>
            </a:r>
            <a:endParaRPr lang="en-US" sz="1500" dirty="0"/>
          </a:p>
        </p:txBody>
      </p:sp>
      <p:sp>
        <p:nvSpPr>
          <p:cNvPr id="7" name="Text 5"/>
          <p:cNvSpPr txBox="1"/>
          <p:nvPr/>
        </p:nvSpPr>
        <p:spPr>
          <a:xfrm>
            <a:off x="868680" y="2834640"/>
            <a:ext cx="4800600" cy="777240"/>
          </a:xfrm>
          <a:prstGeom prst="rect">
            <a:avLst/>
          </a:prstGeom>
          <a:noFill/>
          <a:ln/>
        </p:spPr>
        <p:txBody>
          <a:bodyPr wrap="square" lIns="0" tIns="0" rIns="0" bIns="0" rtlCol="0" anchor="ctr"/>
          <a:lstStyle/>
          <a:p>
            <a:pPr>
              <a:lnSpc>
                <a:spcPts val="1500"/>
              </a:lnSpc>
            </a:pPr>
            <a:r>
              <a:rPr lang="en-US" sz="1150" dirty="0">
                <a:solidFill>
                  <a:srgbClr val="1F2933"/>
                </a:solidFill>
                <a:latin typeface="Calibri"/>
                <a:ea typeface="Calibri"/>
                <a:cs typeface="Calibri"/>
              </a:rPr>
              <a:t>Launch a targeted subscription campaign for female customers, an untapped, higher Average Order Value segment representing 32% of the customer base with zero current reach.</a:t>
            </a:r>
            <a:endParaRPr lang="en-US" sz="1150" dirty="0">
              <a:latin typeface="Calibri"/>
              <a:ea typeface="Calibri"/>
              <a:cs typeface="Calibri"/>
            </a:endParaRPr>
          </a:p>
        </p:txBody>
      </p:sp>
      <p:sp>
        <p:nvSpPr>
          <p:cNvPr id="8" name="Shape 6"/>
          <p:cNvSpPr/>
          <p:nvPr/>
        </p:nvSpPr>
        <p:spPr>
          <a:xfrm>
            <a:off x="6263640" y="1691640"/>
            <a:ext cx="5257800" cy="2011680"/>
          </a:xfrm>
          <a:prstGeom prst="rect">
            <a:avLst/>
          </a:prstGeom>
          <a:solidFill>
            <a:srgbClr val="F7F7F5"/>
          </a:solidFill>
          <a:ln w="9525">
            <a:solidFill>
              <a:srgbClr val="E5E7EB"/>
            </a:solidFill>
            <a:prstDash val="solid"/>
          </a:ln>
        </p:spPr>
      </p:sp>
      <p:sp>
        <p:nvSpPr>
          <p:cNvPr id="9" name="Text 7"/>
          <p:cNvSpPr txBox="1"/>
          <p:nvPr/>
        </p:nvSpPr>
        <p:spPr>
          <a:xfrm>
            <a:off x="6492240" y="1874520"/>
            <a:ext cx="914400" cy="548640"/>
          </a:xfrm>
          <a:prstGeom prst="rect">
            <a:avLst/>
          </a:prstGeom>
          <a:noFill/>
          <a:ln/>
        </p:spPr>
        <p:txBody>
          <a:bodyPr wrap="square" lIns="0" tIns="0" rIns="0" bIns="0" rtlCol="0" anchor="ctr"/>
          <a:lstStyle/>
          <a:p>
            <a:pPr marL="0" indent="0">
              <a:buNone/>
            </a:pPr>
            <a:r>
              <a:rPr lang="en-US" sz="2400" b="1" dirty="0">
                <a:solidFill>
                  <a:srgbClr val="C97C4C"/>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6492240" y="2377440"/>
            <a:ext cx="480060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Shift promotional weight to Accessories</a:t>
            </a:r>
            <a:endParaRPr lang="en-US" sz="1500" dirty="0"/>
          </a:p>
        </p:txBody>
      </p:sp>
      <p:sp>
        <p:nvSpPr>
          <p:cNvPr id="11" name="Text 9"/>
          <p:cNvSpPr txBox="1"/>
          <p:nvPr/>
        </p:nvSpPr>
        <p:spPr>
          <a:xfrm>
            <a:off x="6492240" y="2834640"/>
            <a:ext cx="4800600" cy="777240"/>
          </a:xfrm>
          <a:prstGeom prst="rect">
            <a:avLst/>
          </a:prstGeom>
          <a:noFill/>
          <a:ln/>
        </p:spPr>
        <p:txBody>
          <a:bodyPr wrap="square" lIns="0" tIns="0" rIns="0" bIns="0" rtlCol="0" anchor="ctr"/>
          <a:lstStyle/>
          <a:p>
            <a:pPr marL="0" indent="0">
              <a:lnSpc>
                <a:spcPts val="1500"/>
              </a:lnSpc>
              <a:buNone/>
            </a:pPr>
            <a:r>
              <a:rPr lang="en-US" sz="1150" dirty="0">
                <a:solidFill>
                  <a:srgbClr val="1F2933"/>
                </a:solidFill>
                <a:latin typeface="Calibri" pitchFamily="34" charset="0"/>
                <a:ea typeface="Calibri" pitchFamily="34" charset="-122"/>
                <a:cs typeface="Calibri" pitchFamily="34" charset="-120"/>
              </a:rPr>
              <a:t>Reallocate a portion of Clothing's marketing spend toward Accessories, which carries a 5-point margin advantage despite lower revenue.</a:t>
            </a:r>
            <a:endParaRPr lang="en-US" sz="1150" dirty="0"/>
          </a:p>
        </p:txBody>
      </p:sp>
      <p:sp>
        <p:nvSpPr>
          <p:cNvPr id="12" name="Shape 10"/>
          <p:cNvSpPr/>
          <p:nvPr/>
        </p:nvSpPr>
        <p:spPr>
          <a:xfrm>
            <a:off x="640080" y="3977640"/>
            <a:ext cx="5257800" cy="2011680"/>
          </a:xfrm>
          <a:prstGeom prst="rect">
            <a:avLst/>
          </a:prstGeom>
          <a:solidFill>
            <a:srgbClr val="F7F7F5"/>
          </a:solidFill>
          <a:ln w="9525">
            <a:solidFill>
              <a:srgbClr val="E5E7EB"/>
            </a:solidFill>
            <a:prstDash val="solid"/>
          </a:ln>
        </p:spPr>
      </p:sp>
      <p:sp>
        <p:nvSpPr>
          <p:cNvPr id="13" name="Text 11"/>
          <p:cNvSpPr txBox="1"/>
          <p:nvPr/>
        </p:nvSpPr>
        <p:spPr>
          <a:xfrm>
            <a:off x="868680" y="4160520"/>
            <a:ext cx="914400" cy="548640"/>
          </a:xfrm>
          <a:prstGeom prst="rect">
            <a:avLst/>
          </a:prstGeom>
          <a:noFill/>
          <a:ln/>
        </p:spPr>
        <p:txBody>
          <a:bodyPr wrap="square" lIns="0" tIns="0" rIns="0" bIns="0" rtlCol="0" anchor="ctr"/>
          <a:lstStyle/>
          <a:p>
            <a:pPr marL="0" indent="0">
              <a:buNone/>
            </a:pPr>
            <a:r>
              <a:rPr lang="en-US" sz="2400" b="1" dirty="0">
                <a:solidFill>
                  <a:srgbClr val="C97C4C"/>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868680" y="4663440"/>
            <a:ext cx="480060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Convert 3-star reviewers to advocates</a:t>
            </a:r>
            <a:endParaRPr lang="en-US" sz="1500" dirty="0"/>
          </a:p>
        </p:txBody>
      </p:sp>
      <p:sp>
        <p:nvSpPr>
          <p:cNvPr id="15" name="Text 13"/>
          <p:cNvSpPr txBox="1"/>
          <p:nvPr/>
        </p:nvSpPr>
        <p:spPr>
          <a:xfrm>
            <a:off x="868680" y="5120640"/>
            <a:ext cx="4800600" cy="777240"/>
          </a:xfrm>
          <a:prstGeom prst="rect">
            <a:avLst/>
          </a:prstGeom>
          <a:noFill/>
          <a:ln/>
        </p:spPr>
        <p:txBody>
          <a:bodyPr wrap="square" lIns="0" tIns="0" rIns="0" bIns="0" rtlCol="0" anchor="ctr"/>
          <a:lstStyle/>
          <a:p>
            <a:pPr marL="0" indent="0">
              <a:lnSpc>
                <a:spcPts val="1500"/>
              </a:lnSpc>
              <a:buNone/>
            </a:pPr>
            <a:r>
              <a:rPr lang="en-US" sz="1150" dirty="0">
                <a:solidFill>
                  <a:srgbClr val="1F2933"/>
                </a:solidFill>
                <a:latin typeface="Calibri" pitchFamily="34" charset="0"/>
                <a:ea typeface="Calibri" pitchFamily="34" charset="-122"/>
                <a:cs typeface="Calibri" pitchFamily="34" charset="-120"/>
              </a:rPr>
              <a:t>1,585 customers sit at 3 stars — the largest single band. A targeted post-purchase follow-up could shift this cluster toward 4-5 stars.</a:t>
            </a:r>
            <a:endParaRPr lang="en-US" sz="1150" dirty="0"/>
          </a:p>
        </p:txBody>
      </p:sp>
      <p:sp>
        <p:nvSpPr>
          <p:cNvPr id="16" name="Shape 14"/>
          <p:cNvSpPr/>
          <p:nvPr/>
        </p:nvSpPr>
        <p:spPr>
          <a:xfrm>
            <a:off x="6263640" y="3977640"/>
            <a:ext cx="5257800" cy="2011680"/>
          </a:xfrm>
          <a:prstGeom prst="rect">
            <a:avLst/>
          </a:prstGeom>
          <a:solidFill>
            <a:srgbClr val="F7F7F5"/>
          </a:solidFill>
          <a:ln w="9525">
            <a:solidFill>
              <a:srgbClr val="E5E7EB"/>
            </a:solidFill>
            <a:prstDash val="solid"/>
          </a:ln>
        </p:spPr>
      </p:sp>
      <p:sp>
        <p:nvSpPr>
          <p:cNvPr id="17" name="Text 15"/>
          <p:cNvSpPr txBox="1"/>
          <p:nvPr/>
        </p:nvSpPr>
        <p:spPr>
          <a:xfrm>
            <a:off x="6492240" y="4160520"/>
            <a:ext cx="914400" cy="548640"/>
          </a:xfrm>
          <a:prstGeom prst="rect">
            <a:avLst/>
          </a:prstGeom>
          <a:noFill/>
          <a:ln/>
        </p:spPr>
        <p:txBody>
          <a:bodyPr wrap="square" lIns="0" tIns="0" rIns="0" bIns="0" rtlCol="0" anchor="ctr"/>
          <a:lstStyle/>
          <a:p>
            <a:pPr marL="0" indent="0">
              <a:buNone/>
            </a:pPr>
            <a:r>
              <a:rPr lang="en-US" sz="2400" b="1" dirty="0">
                <a:solidFill>
                  <a:srgbClr val="C97C4C"/>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6492240" y="4663440"/>
            <a:ext cx="480060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Build age-agnostic loyalty programs</a:t>
            </a:r>
            <a:endParaRPr lang="en-US" sz="1500" dirty="0"/>
          </a:p>
        </p:txBody>
      </p:sp>
      <p:sp>
        <p:nvSpPr>
          <p:cNvPr id="19" name="Text 17"/>
          <p:cNvSpPr txBox="1"/>
          <p:nvPr/>
        </p:nvSpPr>
        <p:spPr>
          <a:xfrm>
            <a:off x="6492240" y="5120640"/>
            <a:ext cx="4800600" cy="777240"/>
          </a:xfrm>
          <a:prstGeom prst="rect">
            <a:avLst/>
          </a:prstGeom>
          <a:noFill/>
          <a:ln/>
        </p:spPr>
        <p:txBody>
          <a:bodyPr wrap="square" lIns="0" tIns="0" rIns="0" bIns="0" rtlCol="0" anchor="ctr"/>
          <a:lstStyle/>
          <a:p>
            <a:pPr marL="0" indent="0">
              <a:lnSpc>
                <a:spcPts val="1500"/>
              </a:lnSpc>
              <a:buNone/>
            </a:pPr>
            <a:r>
              <a:rPr lang="en-US" sz="1150" dirty="0">
                <a:solidFill>
                  <a:srgbClr val="1F2933"/>
                </a:solidFill>
                <a:latin typeface="Calibri" pitchFamily="34" charset="0"/>
                <a:ea typeface="Calibri" pitchFamily="34" charset="-122"/>
                <a:cs typeface="Calibri" pitchFamily="34" charset="-120"/>
              </a:rPr>
              <a:t>Repeat purchase rates are flat across age groups (381-440), so retention programs don't need age-specific segmentation to be effective.</a:t>
            </a:r>
            <a:endParaRPr lang="en-US" sz="1150" dirty="0"/>
          </a:p>
        </p:txBody>
      </p:sp>
      <p:sp>
        <p:nvSpPr>
          <p:cNvPr id="20" name="Text 18"/>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21" name="Text 19"/>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pic>
        <p:nvPicPr>
          <p:cNvPr id="22" name="Picture 21">
            <a:extLst>
              <a:ext uri="{FF2B5EF4-FFF2-40B4-BE49-F238E27FC236}">
                <a16:creationId xmlns:a16="http://schemas.microsoft.com/office/drawing/2014/main" id="{F3FDA4CC-F32C-4567-4E1D-10E6C99EBF8C}"/>
              </a:ext>
            </a:extLst>
          </p:cNvPr>
          <p:cNvPicPr>
            <a:picLocks noChangeAspect="1"/>
          </p:cNvPicPr>
          <p:nvPr/>
        </p:nvPicPr>
        <p:blipFill>
          <a:blip r:embed="rId3"/>
          <a:stretch>
            <a:fillRect/>
          </a:stretch>
        </p:blipFill>
        <p:spPr>
          <a:xfrm>
            <a:off x="10668000" y="-58141"/>
            <a:ext cx="2065131" cy="10439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5623560" y="2529230"/>
            <a:ext cx="181051" cy="281635"/>
          </a:xfrm>
          <a:prstGeom prst="rect">
            <a:avLst/>
          </a:prstGeom>
          <a:solidFill>
            <a:srgbClr val="FFFFFF"/>
          </a:solidFill>
          <a:ln/>
        </p:spPr>
      </p:sp>
      <p:sp>
        <p:nvSpPr>
          <p:cNvPr id="3" name="Shape 1"/>
          <p:cNvSpPr/>
          <p:nvPr/>
        </p:nvSpPr>
        <p:spPr>
          <a:xfrm>
            <a:off x="5905195" y="2328062"/>
            <a:ext cx="181051" cy="482803"/>
          </a:xfrm>
          <a:prstGeom prst="rect">
            <a:avLst/>
          </a:prstGeom>
          <a:solidFill>
            <a:srgbClr val="FFFFFF"/>
          </a:solidFill>
          <a:ln/>
        </p:spPr>
      </p:sp>
      <p:sp>
        <p:nvSpPr>
          <p:cNvPr id="4" name="Shape 2"/>
          <p:cNvSpPr/>
          <p:nvPr/>
        </p:nvSpPr>
        <p:spPr>
          <a:xfrm>
            <a:off x="6186830" y="2086661"/>
            <a:ext cx="181051" cy="724205"/>
          </a:xfrm>
          <a:prstGeom prst="rect">
            <a:avLst/>
          </a:prstGeom>
          <a:solidFill>
            <a:srgbClr val="FFFFFF"/>
          </a:solidFill>
          <a:ln/>
        </p:spPr>
      </p:sp>
      <p:sp>
        <p:nvSpPr>
          <p:cNvPr id="5" name="Shape 3"/>
          <p:cNvSpPr/>
          <p:nvPr/>
        </p:nvSpPr>
        <p:spPr>
          <a:xfrm>
            <a:off x="6106363" y="2328062"/>
            <a:ext cx="321869" cy="0"/>
          </a:xfrm>
          <a:prstGeom prst="line">
            <a:avLst/>
          </a:prstGeom>
          <a:noFill/>
          <a:ln w="27940">
            <a:solidFill>
              <a:srgbClr val="C97C4C"/>
            </a:solidFill>
            <a:prstDash val="solid"/>
          </a:ln>
        </p:spPr>
      </p:sp>
      <p:sp>
        <p:nvSpPr>
          <p:cNvPr id="6" name="Text 4"/>
          <p:cNvSpPr txBox="1"/>
          <p:nvPr/>
        </p:nvSpPr>
        <p:spPr>
          <a:xfrm>
            <a:off x="5074920" y="2880360"/>
            <a:ext cx="2011680" cy="457200"/>
          </a:xfrm>
          <a:prstGeom prst="rect">
            <a:avLst/>
          </a:prstGeom>
          <a:noFill/>
          <a:ln/>
        </p:spPr>
        <p:txBody>
          <a:bodyPr wrap="square" lIns="0" tIns="0" rIns="0" bIns="0" rtlCol="0" anchor="ctr"/>
          <a:lstStyle/>
          <a:p>
            <a:pPr marL="0" indent="0" algn="ctr">
              <a:buNone/>
            </a:pPr>
            <a:r>
              <a:rPr lang="en-US" sz="2200" b="1" kern="0" spc="200" dirty="0">
                <a:solidFill>
                  <a:srgbClr val="FFFFFF"/>
                </a:solidFill>
                <a:latin typeface="Calibri" pitchFamily="34" charset="0"/>
                <a:ea typeface="Calibri" pitchFamily="34" charset="-122"/>
                <a:cs typeface="Calibri" pitchFamily="34" charset="-120"/>
              </a:rPr>
              <a:t>veritics</a:t>
            </a:r>
            <a:endParaRPr lang="en-US" sz="2200" dirty="0"/>
          </a:p>
        </p:txBody>
      </p:sp>
      <p:sp>
        <p:nvSpPr>
          <p:cNvPr id="7" name="Text 5"/>
          <p:cNvSpPr txBox="1"/>
          <p:nvPr/>
        </p:nvSpPr>
        <p:spPr>
          <a:xfrm>
            <a:off x="0" y="3611880"/>
            <a:ext cx="12188952" cy="640080"/>
          </a:xfrm>
          <a:prstGeom prst="rect">
            <a:avLst/>
          </a:prstGeom>
          <a:noFill/>
          <a:ln/>
        </p:spPr>
        <p:txBody>
          <a:bodyPr wrap="square" lIns="0" tIns="0" rIns="0" bIns="0" rtlCol="0" anchor="ctr"/>
          <a:lstStyle/>
          <a:p>
            <a:pPr marL="0" indent="0" algn="ctr">
              <a:buNone/>
            </a:pPr>
            <a:r>
              <a:rPr lang="en-US" sz="2600" b="1" dirty="0">
                <a:solidFill>
                  <a:srgbClr val="CADCFC"/>
                </a:solidFill>
                <a:latin typeface="Cambria" pitchFamily="34" charset="0"/>
                <a:ea typeface="Cambria" pitchFamily="34" charset="-122"/>
                <a:cs typeface="Cambria" pitchFamily="34" charset="-120"/>
              </a:rPr>
              <a:t>Thank you</a:t>
            </a:r>
            <a:endParaRPr lang="en-US" sz="2600" dirty="0"/>
          </a:p>
        </p:txBody>
      </p:sp>
      <p:sp>
        <p:nvSpPr>
          <p:cNvPr id="8" name="Text 6"/>
          <p:cNvSpPr txBox="1"/>
          <p:nvPr/>
        </p:nvSpPr>
        <p:spPr>
          <a:xfrm>
            <a:off x="0" y="4251960"/>
            <a:ext cx="12188952" cy="457200"/>
          </a:xfrm>
          <a:prstGeom prst="rect">
            <a:avLst/>
          </a:prstGeom>
          <a:noFill/>
          <a:ln/>
        </p:spPr>
        <p:txBody>
          <a:bodyPr wrap="square" lIns="0" tIns="0" rIns="0" bIns="0" rtlCol="0" anchor="ctr"/>
          <a:lstStyle/>
          <a:p>
            <a:pPr marL="0" indent="0" algn="ctr">
              <a:buNone/>
            </a:pPr>
            <a:r>
              <a:rPr lang="en-US" sz="1300" dirty="0">
                <a:solidFill>
                  <a:srgbClr val="9FB3C8"/>
                </a:solidFill>
                <a:latin typeface="Calibri" pitchFamily="34" charset="0"/>
                <a:ea typeface="Calibri" pitchFamily="34" charset="-122"/>
                <a:cs typeface="Calibri" pitchFamily="34" charset="-120"/>
              </a:rPr>
              <a:t>Analytics Partner: Veritics    •    Client: TRYBEFUSE</a:t>
            </a:r>
            <a:endParaRPr lang="en-US" sz="1300" dirty="0"/>
          </a:p>
        </p:txBody>
      </p:sp>
      <p:sp>
        <p:nvSpPr>
          <p:cNvPr id="9" name="Text 7"/>
          <p:cNvSpPr txBox="1"/>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Veritics  ×  Trybefuse</a:t>
            </a:r>
            <a:endParaRPr lang="en-US" sz="1000" dirty="0"/>
          </a:p>
        </p:txBody>
      </p:sp>
      <p:sp>
        <p:nvSpPr>
          <p:cNvPr id="10" name="Text 8"/>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94</cp:revision>
  <dcterms:created xsi:type="dcterms:W3CDTF">2026-09-02T11:34:13Z</dcterms:created>
  <dcterms:modified xsi:type="dcterms:W3CDTF">2026-09-03T17:32:44Z</dcterms:modified>
</cp:coreProperties>
</file>